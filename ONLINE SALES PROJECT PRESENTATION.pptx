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2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72" r:id="rId9"/>
    <p:sldId id="262" r:id="rId10"/>
    <p:sldId id="273" r:id="rId11"/>
    <p:sldId id="263" r:id="rId12"/>
    <p:sldId id="274" r:id="rId13"/>
    <p:sldId id="264" r:id="rId14"/>
    <p:sldId id="275" r:id="rId15"/>
    <p:sldId id="265" r:id="rId16"/>
    <p:sldId id="276" r:id="rId17"/>
    <p:sldId id="277" r:id="rId18"/>
    <p:sldId id="266" r:id="rId19"/>
    <p:sldId id="267" r:id="rId20"/>
    <p:sldId id="278" r:id="rId21"/>
    <p:sldId id="268" r:id="rId22"/>
    <p:sldId id="279" r:id="rId23"/>
    <p:sldId id="269" r:id="rId24"/>
    <p:sldId id="27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05ED75-53C3-4329-91AB-5AA92BE5AB13}" v="222" dt="2026-01-08T07:27:56.959"/>
    <p1510:client id="{AE686962-7942-495A-888A-2C9211EB1600}" v="98" dt="2026-01-08T14:08:00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B0282-EDB0-4E07-BE44-2C5C161005AE}" type="doc">
      <dgm:prSet loTypeId="urn:microsoft.com/office/officeart/2005/8/layout/cycle6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A22F69-9675-40E8-9962-406066AD2346}">
      <dgm:prSet/>
      <dgm:spPr/>
      <dgm:t>
        <a:bodyPr/>
        <a:lstStyle/>
        <a:p>
          <a:r>
            <a:rPr lang="en-US" dirty="0"/>
            <a:t> </a:t>
          </a:r>
          <a:r>
            <a:rPr lang="en-US" b="1" dirty="0"/>
            <a:t>COLLECTION OF DATA</a:t>
          </a:r>
          <a:endParaRPr lang="en-IN" b="1" dirty="0"/>
        </a:p>
      </dgm:t>
    </dgm:pt>
    <dgm:pt modelId="{9F5CDF76-2EC5-4B2A-A9A6-8ABBF17C1C0D}" type="parTrans" cxnId="{40D9D547-F039-4DD9-BFE2-7E7209927817}">
      <dgm:prSet/>
      <dgm:spPr/>
      <dgm:t>
        <a:bodyPr/>
        <a:lstStyle/>
        <a:p>
          <a:endParaRPr lang="en-IN"/>
        </a:p>
      </dgm:t>
    </dgm:pt>
    <dgm:pt modelId="{14235892-5B57-4B0E-84DF-2D45EEE531A5}" type="sibTrans" cxnId="{40D9D547-F039-4DD9-BFE2-7E7209927817}">
      <dgm:prSet/>
      <dgm:spPr/>
      <dgm:t>
        <a:bodyPr/>
        <a:lstStyle/>
        <a:p>
          <a:endParaRPr lang="en-IN"/>
        </a:p>
      </dgm:t>
    </dgm:pt>
    <dgm:pt modelId="{C2C98302-C5FD-4843-82F6-E655B6B3CB5C}">
      <dgm:prSet/>
      <dgm:spPr/>
      <dgm:t>
        <a:bodyPr/>
        <a:lstStyle/>
        <a:p>
          <a:r>
            <a:rPr lang="en-US" dirty="0"/>
            <a:t>UNDERSTANDING DATA AND BUSINESS PROBLEM</a:t>
          </a:r>
          <a:endParaRPr lang="en-IN" dirty="0"/>
        </a:p>
      </dgm:t>
    </dgm:pt>
    <dgm:pt modelId="{F0F4F4A1-4089-46DC-A84C-5215F17A691D}" type="parTrans" cxnId="{157E785A-216D-42A4-A2E2-4FDB16EE35BA}">
      <dgm:prSet/>
      <dgm:spPr/>
      <dgm:t>
        <a:bodyPr/>
        <a:lstStyle/>
        <a:p>
          <a:endParaRPr lang="en-IN"/>
        </a:p>
      </dgm:t>
    </dgm:pt>
    <dgm:pt modelId="{F07B44D1-16F9-4992-B8DB-9BD9E4344FC8}" type="sibTrans" cxnId="{157E785A-216D-42A4-A2E2-4FDB16EE35BA}">
      <dgm:prSet/>
      <dgm:spPr/>
      <dgm:t>
        <a:bodyPr/>
        <a:lstStyle/>
        <a:p>
          <a:endParaRPr lang="en-IN"/>
        </a:p>
      </dgm:t>
    </dgm:pt>
    <dgm:pt modelId="{03574317-FD3C-4C9A-BA5F-15376FDCBF75}">
      <dgm:prSet/>
      <dgm:spPr/>
      <dgm:t>
        <a:bodyPr/>
        <a:lstStyle/>
        <a:p>
          <a:r>
            <a:rPr lang="en-US" dirty="0"/>
            <a:t> DATA CLEANING</a:t>
          </a:r>
          <a:endParaRPr lang="en-IN" dirty="0"/>
        </a:p>
      </dgm:t>
    </dgm:pt>
    <dgm:pt modelId="{7D5283B8-9006-4761-8CD4-6508A4EBD4F2}" type="parTrans" cxnId="{04E52B17-6433-481D-A410-44C9CE674B9E}">
      <dgm:prSet/>
      <dgm:spPr/>
      <dgm:t>
        <a:bodyPr/>
        <a:lstStyle/>
        <a:p>
          <a:endParaRPr lang="en-IN"/>
        </a:p>
      </dgm:t>
    </dgm:pt>
    <dgm:pt modelId="{375CC065-E402-4245-8EEB-4DD8A2BE8E0E}" type="sibTrans" cxnId="{04E52B17-6433-481D-A410-44C9CE674B9E}">
      <dgm:prSet/>
      <dgm:spPr/>
      <dgm:t>
        <a:bodyPr/>
        <a:lstStyle/>
        <a:p>
          <a:endParaRPr lang="en-IN"/>
        </a:p>
      </dgm:t>
    </dgm:pt>
    <dgm:pt modelId="{FBFDF318-9651-4E4A-837F-116AAD720CAD}">
      <dgm:prSet/>
      <dgm:spPr/>
      <dgm:t>
        <a:bodyPr/>
        <a:lstStyle/>
        <a:p>
          <a:r>
            <a:rPr lang="en-US" dirty="0"/>
            <a:t> DATA TRANSFORMATION</a:t>
          </a:r>
          <a:endParaRPr lang="en-IN" dirty="0"/>
        </a:p>
      </dgm:t>
    </dgm:pt>
    <dgm:pt modelId="{A77E9D36-C044-4E2D-A6C4-1DC2CC8000B9}" type="parTrans" cxnId="{81BC2934-7D60-483C-85DE-D488B1F67683}">
      <dgm:prSet/>
      <dgm:spPr/>
      <dgm:t>
        <a:bodyPr/>
        <a:lstStyle/>
        <a:p>
          <a:endParaRPr lang="en-IN"/>
        </a:p>
      </dgm:t>
    </dgm:pt>
    <dgm:pt modelId="{DEC6BB5A-39DA-490F-85C7-D2A1F31DCB86}" type="sibTrans" cxnId="{81BC2934-7D60-483C-85DE-D488B1F67683}">
      <dgm:prSet/>
      <dgm:spPr/>
      <dgm:t>
        <a:bodyPr/>
        <a:lstStyle/>
        <a:p>
          <a:endParaRPr lang="en-IN"/>
        </a:p>
      </dgm:t>
    </dgm:pt>
    <dgm:pt modelId="{22465B5F-F9E5-47C1-8E6E-6287C92AB0D4}">
      <dgm:prSet/>
      <dgm:spPr/>
      <dgm:t>
        <a:bodyPr/>
        <a:lstStyle/>
        <a:p>
          <a:r>
            <a:rPr lang="en-US" dirty="0"/>
            <a:t> EXPLORATORY DATA ANALYSIS</a:t>
          </a:r>
          <a:endParaRPr lang="en-IN" dirty="0"/>
        </a:p>
      </dgm:t>
    </dgm:pt>
    <dgm:pt modelId="{C09EFA02-6638-411C-86A9-FFF8510BC12C}" type="parTrans" cxnId="{7B8F34EC-A293-4764-8DA4-1508C11C1DCB}">
      <dgm:prSet/>
      <dgm:spPr/>
      <dgm:t>
        <a:bodyPr/>
        <a:lstStyle/>
        <a:p>
          <a:endParaRPr lang="en-IN"/>
        </a:p>
      </dgm:t>
    </dgm:pt>
    <dgm:pt modelId="{6FECF923-1EFE-4A07-BF0F-89B931A6E6B4}" type="sibTrans" cxnId="{7B8F34EC-A293-4764-8DA4-1508C11C1DCB}">
      <dgm:prSet/>
      <dgm:spPr/>
      <dgm:t>
        <a:bodyPr/>
        <a:lstStyle/>
        <a:p>
          <a:endParaRPr lang="en-IN"/>
        </a:p>
      </dgm:t>
    </dgm:pt>
    <dgm:pt modelId="{144B2EF6-9AFB-49F2-AA49-A2DB9AFB3D8B}">
      <dgm:prSet/>
      <dgm:spPr/>
      <dgm:t>
        <a:bodyPr/>
        <a:lstStyle/>
        <a:p>
          <a:r>
            <a:rPr lang="en-US" dirty="0"/>
            <a:t> DATA VISUALIZATION</a:t>
          </a:r>
          <a:endParaRPr lang="en-IN" dirty="0"/>
        </a:p>
      </dgm:t>
    </dgm:pt>
    <dgm:pt modelId="{D6C142B6-6F9B-4427-AC22-345EAFF771F1}" type="parTrans" cxnId="{D1F2033F-7ADF-409B-8D71-67D383F1E6E7}">
      <dgm:prSet/>
      <dgm:spPr/>
      <dgm:t>
        <a:bodyPr/>
        <a:lstStyle/>
        <a:p>
          <a:endParaRPr lang="en-IN"/>
        </a:p>
      </dgm:t>
    </dgm:pt>
    <dgm:pt modelId="{B28A774B-E3F9-453E-AB39-15170E585031}" type="sibTrans" cxnId="{D1F2033F-7ADF-409B-8D71-67D383F1E6E7}">
      <dgm:prSet/>
      <dgm:spPr/>
      <dgm:t>
        <a:bodyPr/>
        <a:lstStyle/>
        <a:p>
          <a:endParaRPr lang="en-IN"/>
        </a:p>
      </dgm:t>
    </dgm:pt>
    <dgm:pt modelId="{8B7E3CB0-3136-4862-AED9-8FEF0EAD1412}">
      <dgm:prSet/>
      <dgm:spPr/>
      <dgm:t>
        <a:bodyPr/>
        <a:lstStyle/>
        <a:p>
          <a:r>
            <a:rPr lang="en-US" dirty="0"/>
            <a:t> PRESENT FINAL INSIGHTS</a:t>
          </a:r>
          <a:endParaRPr lang="en-IN" dirty="0"/>
        </a:p>
      </dgm:t>
    </dgm:pt>
    <dgm:pt modelId="{5C921E8C-9AC3-4332-ACDB-05D691712702}" type="parTrans" cxnId="{C3255704-2E7C-4D0E-987A-6C82523B24C5}">
      <dgm:prSet/>
      <dgm:spPr/>
      <dgm:t>
        <a:bodyPr/>
        <a:lstStyle/>
        <a:p>
          <a:endParaRPr lang="en-IN"/>
        </a:p>
      </dgm:t>
    </dgm:pt>
    <dgm:pt modelId="{E23E7EAB-037E-45CC-8FEE-399E6E005755}" type="sibTrans" cxnId="{C3255704-2E7C-4D0E-987A-6C82523B24C5}">
      <dgm:prSet/>
      <dgm:spPr/>
      <dgm:t>
        <a:bodyPr/>
        <a:lstStyle/>
        <a:p>
          <a:endParaRPr lang="en-IN"/>
        </a:p>
      </dgm:t>
    </dgm:pt>
    <dgm:pt modelId="{D8B8F9CC-92C3-4A51-A4DB-CBB4C845673A}" type="pres">
      <dgm:prSet presAssocID="{418B0282-EDB0-4E07-BE44-2C5C161005AE}" presName="cycle" presStyleCnt="0">
        <dgm:presLayoutVars>
          <dgm:dir/>
          <dgm:resizeHandles val="exact"/>
        </dgm:presLayoutVars>
      </dgm:prSet>
      <dgm:spPr/>
    </dgm:pt>
    <dgm:pt modelId="{F104C6CE-5712-42D8-96CF-15D098FD128F}" type="pres">
      <dgm:prSet presAssocID="{F5A22F69-9675-40E8-9962-406066AD2346}" presName="node" presStyleLbl="node1" presStyleIdx="0" presStyleCnt="7">
        <dgm:presLayoutVars>
          <dgm:bulletEnabled val="1"/>
        </dgm:presLayoutVars>
      </dgm:prSet>
      <dgm:spPr/>
    </dgm:pt>
    <dgm:pt modelId="{53DD1689-41D5-4381-94B9-AA72F97DCCF2}" type="pres">
      <dgm:prSet presAssocID="{F5A22F69-9675-40E8-9962-406066AD2346}" presName="spNode" presStyleCnt="0"/>
      <dgm:spPr/>
    </dgm:pt>
    <dgm:pt modelId="{27C43E0E-3808-4EFF-BFF4-167A8FC3508A}" type="pres">
      <dgm:prSet presAssocID="{14235892-5B57-4B0E-84DF-2D45EEE531A5}" presName="sibTrans" presStyleLbl="sibTrans1D1" presStyleIdx="0" presStyleCnt="7"/>
      <dgm:spPr/>
    </dgm:pt>
    <dgm:pt modelId="{39CD0108-65C8-43B4-BEE0-60AE4E8A0B1A}" type="pres">
      <dgm:prSet presAssocID="{C2C98302-C5FD-4843-82F6-E655B6B3CB5C}" presName="node" presStyleLbl="node1" presStyleIdx="1" presStyleCnt="7">
        <dgm:presLayoutVars>
          <dgm:bulletEnabled val="1"/>
        </dgm:presLayoutVars>
      </dgm:prSet>
      <dgm:spPr/>
    </dgm:pt>
    <dgm:pt modelId="{9517FD4B-7C99-455E-ACA4-4A7CFA6D4693}" type="pres">
      <dgm:prSet presAssocID="{C2C98302-C5FD-4843-82F6-E655B6B3CB5C}" presName="spNode" presStyleCnt="0"/>
      <dgm:spPr/>
    </dgm:pt>
    <dgm:pt modelId="{66254013-CB3D-40F8-861A-0FDA530DF552}" type="pres">
      <dgm:prSet presAssocID="{F07B44D1-16F9-4992-B8DB-9BD9E4344FC8}" presName="sibTrans" presStyleLbl="sibTrans1D1" presStyleIdx="1" presStyleCnt="7"/>
      <dgm:spPr/>
    </dgm:pt>
    <dgm:pt modelId="{9F9E8B4E-22AD-4CD1-AD70-C9958E513500}" type="pres">
      <dgm:prSet presAssocID="{03574317-FD3C-4C9A-BA5F-15376FDCBF75}" presName="node" presStyleLbl="node1" presStyleIdx="2" presStyleCnt="7">
        <dgm:presLayoutVars>
          <dgm:bulletEnabled val="1"/>
        </dgm:presLayoutVars>
      </dgm:prSet>
      <dgm:spPr/>
    </dgm:pt>
    <dgm:pt modelId="{245B83D0-852D-4865-86CD-B5547E54D02A}" type="pres">
      <dgm:prSet presAssocID="{03574317-FD3C-4C9A-BA5F-15376FDCBF75}" presName="spNode" presStyleCnt="0"/>
      <dgm:spPr/>
    </dgm:pt>
    <dgm:pt modelId="{44A17887-A06B-4EBC-8AA8-414F5DDA011D}" type="pres">
      <dgm:prSet presAssocID="{375CC065-E402-4245-8EEB-4DD8A2BE8E0E}" presName="sibTrans" presStyleLbl="sibTrans1D1" presStyleIdx="2" presStyleCnt="7"/>
      <dgm:spPr/>
    </dgm:pt>
    <dgm:pt modelId="{B1C6938F-7F5A-4BA8-A81F-157C861B064F}" type="pres">
      <dgm:prSet presAssocID="{FBFDF318-9651-4E4A-837F-116AAD720CAD}" presName="node" presStyleLbl="node1" presStyleIdx="3" presStyleCnt="7">
        <dgm:presLayoutVars>
          <dgm:bulletEnabled val="1"/>
        </dgm:presLayoutVars>
      </dgm:prSet>
      <dgm:spPr/>
    </dgm:pt>
    <dgm:pt modelId="{D214F7D0-CC0D-4D3F-858A-38C6F2ED8071}" type="pres">
      <dgm:prSet presAssocID="{FBFDF318-9651-4E4A-837F-116AAD720CAD}" presName="spNode" presStyleCnt="0"/>
      <dgm:spPr/>
    </dgm:pt>
    <dgm:pt modelId="{26A7B968-9A34-4669-BD91-6EE0E74FDF5B}" type="pres">
      <dgm:prSet presAssocID="{DEC6BB5A-39DA-490F-85C7-D2A1F31DCB86}" presName="sibTrans" presStyleLbl="sibTrans1D1" presStyleIdx="3" presStyleCnt="7"/>
      <dgm:spPr/>
    </dgm:pt>
    <dgm:pt modelId="{A42F921D-63E9-4DD2-9A7C-41CC948A0AD2}" type="pres">
      <dgm:prSet presAssocID="{22465B5F-F9E5-47C1-8E6E-6287C92AB0D4}" presName="node" presStyleLbl="node1" presStyleIdx="4" presStyleCnt="7">
        <dgm:presLayoutVars>
          <dgm:bulletEnabled val="1"/>
        </dgm:presLayoutVars>
      </dgm:prSet>
      <dgm:spPr/>
    </dgm:pt>
    <dgm:pt modelId="{547B56EE-92E6-4EE1-8F2C-624D01C16EF6}" type="pres">
      <dgm:prSet presAssocID="{22465B5F-F9E5-47C1-8E6E-6287C92AB0D4}" presName="spNode" presStyleCnt="0"/>
      <dgm:spPr/>
    </dgm:pt>
    <dgm:pt modelId="{42CFA3A9-7E3A-4619-A728-11801D1AD5E6}" type="pres">
      <dgm:prSet presAssocID="{6FECF923-1EFE-4A07-BF0F-89B931A6E6B4}" presName="sibTrans" presStyleLbl="sibTrans1D1" presStyleIdx="4" presStyleCnt="7"/>
      <dgm:spPr/>
    </dgm:pt>
    <dgm:pt modelId="{CAE9D33C-2867-40CA-9DC0-048DB375A47A}" type="pres">
      <dgm:prSet presAssocID="{144B2EF6-9AFB-49F2-AA49-A2DB9AFB3D8B}" presName="node" presStyleLbl="node1" presStyleIdx="5" presStyleCnt="7">
        <dgm:presLayoutVars>
          <dgm:bulletEnabled val="1"/>
        </dgm:presLayoutVars>
      </dgm:prSet>
      <dgm:spPr/>
    </dgm:pt>
    <dgm:pt modelId="{F332310A-F579-4735-AA0E-42CF65F4D947}" type="pres">
      <dgm:prSet presAssocID="{144B2EF6-9AFB-49F2-AA49-A2DB9AFB3D8B}" presName="spNode" presStyleCnt="0"/>
      <dgm:spPr/>
    </dgm:pt>
    <dgm:pt modelId="{0B40C058-B9A4-4E83-8BBA-5CC400DD317F}" type="pres">
      <dgm:prSet presAssocID="{B28A774B-E3F9-453E-AB39-15170E585031}" presName="sibTrans" presStyleLbl="sibTrans1D1" presStyleIdx="5" presStyleCnt="7"/>
      <dgm:spPr/>
    </dgm:pt>
    <dgm:pt modelId="{A276EDD6-9965-4633-A5A0-1F1DE2B74C84}" type="pres">
      <dgm:prSet presAssocID="{8B7E3CB0-3136-4862-AED9-8FEF0EAD1412}" presName="node" presStyleLbl="node1" presStyleIdx="6" presStyleCnt="7">
        <dgm:presLayoutVars>
          <dgm:bulletEnabled val="1"/>
        </dgm:presLayoutVars>
      </dgm:prSet>
      <dgm:spPr/>
    </dgm:pt>
    <dgm:pt modelId="{84DD4185-491A-480B-8DAF-E602E3842108}" type="pres">
      <dgm:prSet presAssocID="{8B7E3CB0-3136-4862-AED9-8FEF0EAD1412}" presName="spNode" presStyleCnt="0"/>
      <dgm:spPr/>
    </dgm:pt>
    <dgm:pt modelId="{69AEF8DB-51D5-4DD3-8936-93B548B128DB}" type="pres">
      <dgm:prSet presAssocID="{E23E7EAB-037E-45CC-8FEE-399E6E005755}" presName="sibTrans" presStyleLbl="sibTrans1D1" presStyleIdx="6" presStyleCnt="7"/>
      <dgm:spPr/>
    </dgm:pt>
  </dgm:ptLst>
  <dgm:cxnLst>
    <dgm:cxn modelId="{6F9C1D03-04DE-4FDF-8426-7DDB68C46366}" type="presOf" srcId="{418B0282-EDB0-4E07-BE44-2C5C161005AE}" destId="{D8B8F9CC-92C3-4A51-A4DB-CBB4C845673A}" srcOrd="0" destOrd="0" presId="urn:microsoft.com/office/officeart/2005/8/layout/cycle6"/>
    <dgm:cxn modelId="{C3255704-2E7C-4D0E-987A-6C82523B24C5}" srcId="{418B0282-EDB0-4E07-BE44-2C5C161005AE}" destId="{8B7E3CB0-3136-4862-AED9-8FEF0EAD1412}" srcOrd="6" destOrd="0" parTransId="{5C921E8C-9AC3-4332-ACDB-05D691712702}" sibTransId="{E23E7EAB-037E-45CC-8FEE-399E6E005755}"/>
    <dgm:cxn modelId="{B84DDE05-696B-4B47-B364-BDE00B8FE310}" type="presOf" srcId="{6FECF923-1EFE-4A07-BF0F-89B931A6E6B4}" destId="{42CFA3A9-7E3A-4619-A728-11801D1AD5E6}" srcOrd="0" destOrd="0" presId="urn:microsoft.com/office/officeart/2005/8/layout/cycle6"/>
    <dgm:cxn modelId="{78654813-A061-4939-8815-0745D57838A0}" type="presOf" srcId="{C2C98302-C5FD-4843-82F6-E655B6B3CB5C}" destId="{39CD0108-65C8-43B4-BEE0-60AE4E8A0B1A}" srcOrd="0" destOrd="0" presId="urn:microsoft.com/office/officeart/2005/8/layout/cycle6"/>
    <dgm:cxn modelId="{04E52B17-6433-481D-A410-44C9CE674B9E}" srcId="{418B0282-EDB0-4E07-BE44-2C5C161005AE}" destId="{03574317-FD3C-4C9A-BA5F-15376FDCBF75}" srcOrd="2" destOrd="0" parTransId="{7D5283B8-9006-4761-8CD4-6508A4EBD4F2}" sibTransId="{375CC065-E402-4245-8EEB-4DD8A2BE8E0E}"/>
    <dgm:cxn modelId="{2CEB8821-7374-4BBF-B9ED-FCA0D388C447}" type="presOf" srcId="{144B2EF6-9AFB-49F2-AA49-A2DB9AFB3D8B}" destId="{CAE9D33C-2867-40CA-9DC0-048DB375A47A}" srcOrd="0" destOrd="0" presId="urn:microsoft.com/office/officeart/2005/8/layout/cycle6"/>
    <dgm:cxn modelId="{46443422-BD97-4191-BCE5-0E8B34F4C40C}" type="presOf" srcId="{F07B44D1-16F9-4992-B8DB-9BD9E4344FC8}" destId="{66254013-CB3D-40F8-861A-0FDA530DF552}" srcOrd="0" destOrd="0" presId="urn:microsoft.com/office/officeart/2005/8/layout/cycle6"/>
    <dgm:cxn modelId="{98724D23-4ADE-4D9F-9A76-EC28A5559909}" type="presOf" srcId="{375CC065-E402-4245-8EEB-4DD8A2BE8E0E}" destId="{44A17887-A06B-4EBC-8AA8-414F5DDA011D}" srcOrd="0" destOrd="0" presId="urn:microsoft.com/office/officeart/2005/8/layout/cycle6"/>
    <dgm:cxn modelId="{81BC2934-7D60-483C-85DE-D488B1F67683}" srcId="{418B0282-EDB0-4E07-BE44-2C5C161005AE}" destId="{FBFDF318-9651-4E4A-837F-116AAD720CAD}" srcOrd="3" destOrd="0" parTransId="{A77E9D36-C044-4E2D-A6C4-1DC2CC8000B9}" sibTransId="{DEC6BB5A-39DA-490F-85C7-D2A1F31DCB86}"/>
    <dgm:cxn modelId="{38A0E03E-A311-4ED5-B464-F8FC141D4925}" type="presOf" srcId="{22465B5F-F9E5-47C1-8E6E-6287C92AB0D4}" destId="{A42F921D-63E9-4DD2-9A7C-41CC948A0AD2}" srcOrd="0" destOrd="0" presId="urn:microsoft.com/office/officeart/2005/8/layout/cycle6"/>
    <dgm:cxn modelId="{D1F2033F-7ADF-409B-8D71-67D383F1E6E7}" srcId="{418B0282-EDB0-4E07-BE44-2C5C161005AE}" destId="{144B2EF6-9AFB-49F2-AA49-A2DB9AFB3D8B}" srcOrd="5" destOrd="0" parTransId="{D6C142B6-6F9B-4427-AC22-345EAFF771F1}" sibTransId="{B28A774B-E3F9-453E-AB39-15170E585031}"/>
    <dgm:cxn modelId="{40D9D547-F039-4DD9-BFE2-7E7209927817}" srcId="{418B0282-EDB0-4E07-BE44-2C5C161005AE}" destId="{F5A22F69-9675-40E8-9962-406066AD2346}" srcOrd="0" destOrd="0" parTransId="{9F5CDF76-2EC5-4B2A-A9A6-8ABBF17C1C0D}" sibTransId="{14235892-5B57-4B0E-84DF-2D45EEE531A5}"/>
    <dgm:cxn modelId="{017A244B-9EE7-419F-BFF0-8D92A3DEEF83}" type="presOf" srcId="{E23E7EAB-037E-45CC-8FEE-399E6E005755}" destId="{69AEF8DB-51D5-4DD3-8936-93B548B128DB}" srcOrd="0" destOrd="0" presId="urn:microsoft.com/office/officeart/2005/8/layout/cycle6"/>
    <dgm:cxn modelId="{752C004F-FE4C-448C-8856-F32CE63E41F1}" type="presOf" srcId="{8B7E3CB0-3136-4862-AED9-8FEF0EAD1412}" destId="{A276EDD6-9965-4633-A5A0-1F1DE2B74C84}" srcOrd="0" destOrd="0" presId="urn:microsoft.com/office/officeart/2005/8/layout/cycle6"/>
    <dgm:cxn modelId="{157E785A-216D-42A4-A2E2-4FDB16EE35BA}" srcId="{418B0282-EDB0-4E07-BE44-2C5C161005AE}" destId="{C2C98302-C5FD-4843-82F6-E655B6B3CB5C}" srcOrd="1" destOrd="0" parTransId="{F0F4F4A1-4089-46DC-A84C-5215F17A691D}" sibTransId="{F07B44D1-16F9-4992-B8DB-9BD9E4344FC8}"/>
    <dgm:cxn modelId="{C3A56586-2AED-4CCF-974B-96E22E1DBE68}" type="presOf" srcId="{03574317-FD3C-4C9A-BA5F-15376FDCBF75}" destId="{9F9E8B4E-22AD-4CD1-AD70-C9958E513500}" srcOrd="0" destOrd="0" presId="urn:microsoft.com/office/officeart/2005/8/layout/cycle6"/>
    <dgm:cxn modelId="{E3B37387-AE97-46BE-8A30-3ABA298F1A09}" type="presOf" srcId="{DEC6BB5A-39DA-490F-85C7-D2A1F31DCB86}" destId="{26A7B968-9A34-4669-BD91-6EE0E74FDF5B}" srcOrd="0" destOrd="0" presId="urn:microsoft.com/office/officeart/2005/8/layout/cycle6"/>
    <dgm:cxn modelId="{0A1B239B-E2D9-438B-AD98-EB988397A917}" type="presOf" srcId="{B28A774B-E3F9-453E-AB39-15170E585031}" destId="{0B40C058-B9A4-4E83-8BBA-5CC400DD317F}" srcOrd="0" destOrd="0" presId="urn:microsoft.com/office/officeart/2005/8/layout/cycle6"/>
    <dgm:cxn modelId="{325CD4B1-9839-4629-B068-E1BEF6C9F19C}" type="presOf" srcId="{14235892-5B57-4B0E-84DF-2D45EEE531A5}" destId="{27C43E0E-3808-4EFF-BFF4-167A8FC3508A}" srcOrd="0" destOrd="0" presId="urn:microsoft.com/office/officeart/2005/8/layout/cycle6"/>
    <dgm:cxn modelId="{7B8F34EC-A293-4764-8DA4-1508C11C1DCB}" srcId="{418B0282-EDB0-4E07-BE44-2C5C161005AE}" destId="{22465B5F-F9E5-47C1-8E6E-6287C92AB0D4}" srcOrd="4" destOrd="0" parTransId="{C09EFA02-6638-411C-86A9-FFF8510BC12C}" sibTransId="{6FECF923-1EFE-4A07-BF0F-89B931A6E6B4}"/>
    <dgm:cxn modelId="{37A894F4-614F-4D10-9E9F-4E160F336567}" type="presOf" srcId="{FBFDF318-9651-4E4A-837F-116AAD720CAD}" destId="{B1C6938F-7F5A-4BA8-A81F-157C861B064F}" srcOrd="0" destOrd="0" presId="urn:microsoft.com/office/officeart/2005/8/layout/cycle6"/>
    <dgm:cxn modelId="{859F5FFB-D3CA-40F6-8DCC-2F43CD50AC28}" type="presOf" srcId="{F5A22F69-9675-40E8-9962-406066AD2346}" destId="{F104C6CE-5712-42D8-96CF-15D098FD128F}" srcOrd="0" destOrd="0" presId="urn:microsoft.com/office/officeart/2005/8/layout/cycle6"/>
    <dgm:cxn modelId="{95E8146A-A3EF-4C30-AB08-8B56C20BA281}" type="presParOf" srcId="{D8B8F9CC-92C3-4A51-A4DB-CBB4C845673A}" destId="{F104C6CE-5712-42D8-96CF-15D098FD128F}" srcOrd="0" destOrd="0" presId="urn:microsoft.com/office/officeart/2005/8/layout/cycle6"/>
    <dgm:cxn modelId="{7B62A417-90A7-4BEB-8399-89840239ADF7}" type="presParOf" srcId="{D8B8F9CC-92C3-4A51-A4DB-CBB4C845673A}" destId="{53DD1689-41D5-4381-94B9-AA72F97DCCF2}" srcOrd="1" destOrd="0" presId="urn:microsoft.com/office/officeart/2005/8/layout/cycle6"/>
    <dgm:cxn modelId="{F040D702-6219-4ACF-99F1-65C9B051DE76}" type="presParOf" srcId="{D8B8F9CC-92C3-4A51-A4DB-CBB4C845673A}" destId="{27C43E0E-3808-4EFF-BFF4-167A8FC3508A}" srcOrd="2" destOrd="0" presId="urn:microsoft.com/office/officeart/2005/8/layout/cycle6"/>
    <dgm:cxn modelId="{77300458-B0F0-4B53-BC26-878E6365B279}" type="presParOf" srcId="{D8B8F9CC-92C3-4A51-A4DB-CBB4C845673A}" destId="{39CD0108-65C8-43B4-BEE0-60AE4E8A0B1A}" srcOrd="3" destOrd="0" presId="urn:microsoft.com/office/officeart/2005/8/layout/cycle6"/>
    <dgm:cxn modelId="{FF9389CF-25FA-4721-AE40-0E20F1963D72}" type="presParOf" srcId="{D8B8F9CC-92C3-4A51-A4DB-CBB4C845673A}" destId="{9517FD4B-7C99-455E-ACA4-4A7CFA6D4693}" srcOrd="4" destOrd="0" presId="urn:microsoft.com/office/officeart/2005/8/layout/cycle6"/>
    <dgm:cxn modelId="{7C83C813-D667-4A62-B3BB-0C49B466520B}" type="presParOf" srcId="{D8B8F9CC-92C3-4A51-A4DB-CBB4C845673A}" destId="{66254013-CB3D-40F8-861A-0FDA530DF552}" srcOrd="5" destOrd="0" presId="urn:microsoft.com/office/officeart/2005/8/layout/cycle6"/>
    <dgm:cxn modelId="{674C7476-9C16-4FCA-8001-90DF41E769E6}" type="presParOf" srcId="{D8B8F9CC-92C3-4A51-A4DB-CBB4C845673A}" destId="{9F9E8B4E-22AD-4CD1-AD70-C9958E513500}" srcOrd="6" destOrd="0" presId="urn:microsoft.com/office/officeart/2005/8/layout/cycle6"/>
    <dgm:cxn modelId="{5F7B99AA-BAE7-4523-8B22-11BA1D87DFC5}" type="presParOf" srcId="{D8B8F9CC-92C3-4A51-A4DB-CBB4C845673A}" destId="{245B83D0-852D-4865-86CD-B5547E54D02A}" srcOrd="7" destOrd="0" presId="urn:microsoft.com/office/officeart/2005/8/layout/cycle6"/>
    <dgm:cxn modelId="{DF4141F1-5333-4CD5-859C-999AD36860CE}" type="presParOf" srcId="{D8B8F9CC-92C3-4A51-A4DB-CBB4C845673A}" destId="{44A17887-A06B-4EBC-8AA8-414F5DDA011D}" srcOrd="8" destOrd="0" presId="urn:microsoft.com/office/officeart/2005/8/layout/cycle6"/>
    <dgm:cxn modelId="{8F0FDB39-013F-45BE-BA99-9A459AB03C6D}" type="presParOf" srcId="{D8B8F9CC-92C3-4A51-A4DB-CBB4C845673A}" destId="{B1C6938F-7F5A-4BA8-A81F-157C861B064F}" srcOrd="9" destOrd="0" presId="urn:microsoft.com/office/officeart/2005/8/layout/cycle6"/>
    <dgm:cxn modelId="{AFE301E7-3E1C-49A9-92D5-42398731425A}" type="presParOf" srcId="{D8B8F9CC-92C3-4A51-A4DB-CBB4C845673A}" destId="{D214F7D0-CC0D-4D3F-858A-38C6F2ED8071}" srcOrd="10" destOrd="0" presId="urn:microsoft.com/office/officeart/2005/8/layout/cycle6"/>
    <dgm:cxn modelId="{27BDE796-B323-4325-9AC0-C5320CE70408}" type="presParOf" srcId="{D8B8F9CC-92C3-4A51-A4DB-CBB4C845673A}" destId="{26A7B968-9A34-4669-BD91-6EE0E74FDF5B}" srcOrd="11" destOrd="0" presId="urn:microsoft.com/office/officeart/2005/8/layout/cycle6"/>
    <dgm:cxn modelId="{275DCF8B-76C5-4531-9029-B2E4132CE42D}" type="presParOf" srcId="{D8B8F9CC-92C3-4A51-A4DB-CBB4C845673A}" destId="{A42F921D-63E9-4DD2-9A7C-41CC948A0AD2}" srcOrd="12" destOrd="0" presId="urn:microsoft.com/office/officeart/2005/8/layout/cycle6"/>
    <dgm:cxn modelId="{A6E4F45B-7DD8-4733-AEFB-8248BF1C3C5D}" type="presParOf" srcId="{D8B8F9CC-92C3-4A51-A4DB-CBB4C845673A}" destId="{547B56EE-92E6-4EE1-8F2C-624D01C16EF6}" srcOrd="13" destOrd="0" presId="urn:microsoft.com/office/officeart/2005/8/layout/cycle6"/>
    <dgm:cxn modelId="{4790A624-5700-43A5-BED3-85FAA4062651}" type="presParOf" srcId="{D8B8F9CC-92C3-4A51-A4DB-CBB4C845673A}" destId="{42CFA3A9-7E3A-4619-A728-11801D1AD5E6}" srcOrd="14" destOrd="0" presId="urn:microsoft.com/office/officeart/2005/8/layout/cycle6"/>
    <dgm:cxn modelId="{EE5A2006-FE54-4430-8489-11AB4F7AE6B1}" type="presParOf" srcId="{D8B8F9CC-92C3-4A51-A4DB-CBB4C845673A}" destId="{CAE9D33C-2867-40CA-9DC0-048DB375A47A}" srcOrd="15" destOrd="0" presId="urn:microsoft.com/office/officeart/2005/8/layout/cycle6"/>
    <dgm:cxn modelId="{D23363A0-EE9E-4AC9-A31F-C45A17F84969}" type="presParOf" srcId="{D8B8F9CC-92C3-4A51-A4DB-CBB4C845673A}" destId="{F332310A-F579-4735-AA0E-42CF65F4D947}" srcOrd="16" destOrd="0" presId="urn:microsoft.com/office/officeart/2005/8/layout/cycle6"/>
    <dgm:cxn modelId="{F89F8E19-C4F8-4E04-AD66-6EC9B3990C77}" type="presParOf" srcId="{D8B8F9CC-92C3-4A51-A4DB-CBB4C845673A}" destId="{0B40C058-B9A4-4E83-8BBA-5CC400DD317F}" srcOrd="17" destOrd="0" presId="urn:microsoft.com/office/officeart/2005/8/layout/cycle6"/>
    <dgm:cxn modelId="{2149798A-052F-4F89-80C2-C6C2231EC71A}" type="presParOf" srcId="{D8B8F9CC-92C3-4A51-A4DB-CBB4C845673A}" destId="{A276EDD6-9965-4633-A5A0-1F1DE2B74C84}" srcOrd="18" destOrd="0" presId="urn:microsoft.com/office/officeart/2005/8/layout/cycle6"/>
    <dgm:cxn modelId="{4F18B16C-3AC9-4C9A-8B0D-1C8117E8205D}" type="presParOf" srcId="{D8B8F9CC-92C3-4A51-A4DB-CBB4C845673A}" destId="{84DD4185-491A-480B-8DAF-E602E3842108}" srcOrd="19" destOrd="0" presId="urn:microsoft.com/office/officeart/2005/8/layout/cycle6"/>
    <dgm:cxn modelId="{2BFC4B24-C4C9-433E-9E3C-CA7F2F03E65B}" type="presParOf" srcId="{D8B8F9CC-92C3-4A51-A4DB-CBB4C845673A}" destId="{69AEF8DB-51D5-4DD3-8936-93B548B128DB}" srcOrd="2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42C17B-030A-4E19-85EA-1915F73AAE8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A03C4DD-B361-44E8-AF1D-02DE94069DDB}">
      <dgm:prSet/>
      <dgm:spPr/>
      <dgm:t>
        <a:bodyPr/>
        <a:lstStyle/>
        <a:p>
          <a:r>
            <a:rPr lang="en-IN" dirty="0"/>
            <a:t>CUSTOMERS BASED ANALYSIS</a:t>
          </a:r>
        </a:p>
      </dgm:t>
    </dgm:pt>
    <dgm:pt modelId="{3A55A2BE-CDFD-4441-AB21-3051A18D4449}" type="parTrans" cxnId="{5B67BA68-F940-4933-BDE2-CF59938B2B33}">
      <dgm:prSet/>
      <dgm:spPr/>
      <dgm:t>
        <a:bodyPr/>
        <a:lstStyle/>
        <a:p>
          <a:endParaRPr lang="en-IN"/>
        </a:p>
      </dgm:t>
    </dgm:pt>
    <dgm:pt modelId="{9509A155-2844-481D-B7A2-545DCF4F0790}" type="sibTrans" cxnId="{5B67BA68-F940-4933-BDE2-CF59938B2B33}">
      <dgm:prSet/>
      <dgm:spPr/>
      <dgm:t>
        <a:bodyPr/>
        <a:lstStyle/>
        <a:p>
          <a:endParaRPr lang="en-IN"/>
        </a:p>
      </dgm:t>
    </dgm:pt>
    <dgm:pt modelId="{829CA7E6-C4A4-437F-B580-DC654AA0C916}">
      <dgm:prSet/>
      <dgm:spPr/>
      <dgm:t>
        <a:bodyPr/>
        <a:lstStyle/>
        <a:p>
          <a:r>
            <a:rPr lang="en-IN"/>
            <a:t>PRODUCT BASED ANALYSIS</a:t>
          </a:r>
        </a:p>
      </dgm:t>
    </dgm:pt>
    <dgm:pt modelId="{413016C3-3529-40DF-BD66-21FF0A70CEF1}" type="parTrans" cxnId="{42D47FE3-814E-421A-A32D-9EBFEFC444A5}">
      <dgm:prSet/>
      <dgm:spPr/>
      <dgm:t>
        <a:bodyPr/>
        <a:lstStyle/>
        <a:p>
          <a:endParaRPr lang="en-IN"/>
        </a:p>
      </dgm:t>
    </dgm:pt>
    <dgm:pt modelId="{A0C6D5E9-508C-461D-9C96-00BAC1CDC90F}" type="sibTrans" cxnId="{42D47FE3-814E-421A-A32D-9EBFEFC444A5}">
      <dgm:prSet/>
      <dgm:spPr/>
      <dgm:t>
        <a:bodyPr/>
        <a:lstStyle/>
        <a:p>
          <a:endParaRPr lang="en-IN"/>
        </a:p>
      </dgm:t>
    </dgm:pt>
    <dgm:pt modelId="{8BB493B5-980B-46FB-83F7-9CAB85278EAD}">
      <dgm:prSet/>
      <dgm:spPr/>
      <dgm:t>
        <a:bodyPr/>
        <a:lstStyle/>
        <a:p>
          <a:r>
            <a:rPr lang="en-IN"/>
            <a:t>PAYMENT BASED ANALYSIS</a:t>
          </a:r>
        </a:p>
      </dgm:t>
    </dgm:pt>
    <dgm:pt modelId="{380106A9-98AA-4D78-AB87-2CA20C416C18}" type="parTrans" cxnId="{6B24BAF2-AD3C-4239-8CE1-D7FCDF0D718E}">
      <dgm:prSet/>
      <dgm:spPr/>
      <dgm:t>
        <a:bodyPr/>
        <a:lstStyle/>
        <a:p>
          <a:endParaRPr lang="en-IN"/>
        </a:p>
      </dgm:t>
    </dgm:pt>
    <dgm:pt modelId="{C036AE4B-7F16-454F-A608-A76ABAA67D3C}" type="sibTrans" cxnId="{6B24BAF2-AD3C-4239-8CE1-D7FCDF0D718E}">
      <dgm:prSet/>
      <dgm:spPr/>
      <dgm:t>
        <a:bodyPr/>
        <a:lstStyle/>
        <a:p>
          <a:endParaRPr lang="en-IN"/>
        </a:p>
      </dgm:t>
    </dgm:pt>
    <dgm:pt modelId="{32871FBD-BF13-492C-BC56-03B64D89F9E3}">
      <dgm:prSet/>
      <dgm:spPr/>
      <dgm:t>
        <a:bodyPr/>
        <a:lstStyle/>
        <a:p>
          <a:r>
            <a:rPr lang="en-IN"/>
            <a:t>REGION BASED ANALYSIS</a:t>
          </a:r>
        </a:p>
      </dgm:t>
    </dgm:pt>
    <dgm:pt modelId="{EE142BCF-600F-4B3D-8434-8BAF6D3E867A}" type="parTrans" cxnId="{7567A102-AB11-4629-ACDC-3298A7F84A1C}">
      <dgm:prSet/>
      <dgm:spPr/>
      <dgm:t>
        <a:bodyPr/>
        <a:lstStyle/>
        <a:p>
          <a:endParaRPr lang="en-IN"/>
        </a:p>
      </dgm:t>
    </dgm:pt>
    <dgm:pt modelId="{380315A8-D544-4664-8E6E-BD03A3D6ADDE}" type="sibTrans" cxnId="{7567A102-AB11-4629-ACDC-3298A7F84A1C}">
      <dgm:prSet/>
      <dgm:spPr/>
      <dgm:t>
        <a:bodyPr/>
        <a:lstStyle/>
        <a:p>
          <a:endParaRPr lang="en-IN"/>
        </a:p>
      </dgm:t>
    </dgm:pt>
    <dgm:pt modelId="{0947A257-CD8F-4362-825A-9B212DC31BAB}">
      <dgm:prSet/>
      <dgm:spPr/>
      <dgm:t>
        <a:bodyPr/>
        <a:lstStyle/>
        <a:p>
          <a:r>
            <a:rPr lang="en-IN"/>
            <a:t>DATE WISE ANALYSIS</a:t>
          </a:r>
        </a:p>
      </dgm:t>
    </dgm:pt>
    <dgm:pt modelId="{0F14DC58-6663-4233-88F7-8954E63FD589}" type="parTrans" cxnId="{FB0DCFF3-9063-4C67-9A79-29B15A0CDCCF}">
      <dgm:prSet/>
      <dgm:spPr/>
      <dgm:t>
        <a:bodyPr/>
        <a:lstStyle/>
        <a:p>
          <a:endParaRPr lang="en-IN"/>
        </a:p>
      </dgm:t>
    </dgm:pt>
    <dgm:pt modelId="{0196A4D2-9556-46EA-A2E9-9513A505BC4E}" type="sibTrans" cxnId="{FB0DCFF3-9063-4C67-9A79-29B15A0CDCCF}">
      <dgm:prSet/>
      <dgm:spPr/>
      <dgm:t>
        <a:bodyPr/>
        <a:lstStyle/>
        <a:p>
          <a:endParaRPr lang="en-IN"/>
        </a:p>
      </dgm:t>
    </dgm:pt>
    <dgm:pt modelId="{A375783B-4E3F-48F0-8D49-BEFEFEF656C2}" type="pres">
      <dgm:prSet presAssocID="{9142C17B-030A-4E19-85EA-1915F73AAE88}" presName="diagram" presStyleCnt="0">
        <dgm:presLayoutVars>
          <dgm:dir/>
          <dgm:resizeHandles val="exact"/>
        </dgm:presLayoutVars>
      </dgm:prSet>
      <dgm:spPr/>
    </dgm:pt>
    <dgm:pt modelId="{ADEAECAB-DF47-4558-9407-7F3F60D681F5}" type="pres">
      <dgm:prSet presAssocID="{2A03C4DD-B361-44E8-AF1D-02DE94069DDB}" presName="node" presStyleLbl="node1" presStyleIdx="0" presStyleCnt="5">
        <dgm:presLayoutVars>
          <dgm:bulletEnabled val="1"/>
        </dgm:presLayoutVars>
      </dgm:prSet>
      <dgm:spPr/>
    </dgm:pt>
    <dgm:pt modelId="{230890E3-87D3-416A-89E5-2A514DABC3D9}" type="pres">
      <dgm:prSet presAssocID="{9509A155-2844-481D-B7A2-545DCF4F0790}" presName="sibTrans" presStyleCnt="0"/>
      <dgm:spPr/>
    </dgm:pt>
    <dgm:pt modelId="{AC55D991-8E25-42A6-A091-0AC8834E9D34}" type="pres">
      <dgm:prSet presAssocID="{829CA7E6-C4A4-437F-B580-DC654AA0C916}" presName="node" presStyleLbl="node1" presStyleIdx="1" presStyleCnt="5">
        <dgm:presLayoutVars>
          <dgm:bulletEnabled val="1"/>
        </dgm:presLayoutVars>
      </dgm:prSet>
      <dgm:spPr/>
    </dgm:pt>
    <dgm:pt modelId="{059D90B9-C9B6-4954-843F-DBF0CB4E748C}" type="pres">
      <dgm:prSet presAssocID="{A0C6D5E9-508C-461D-9C96-00BAC1CDC90F}" presName="sibTrans" presStyleCnt="0"/>
      <dgm:spPr/>
    </dgm:pt>
    <dgm:pt modelId="{A5353A08-5DAE-43E6-A3C2-9AAF27E561C6}" type="pres">
      <dgm:prSet presAssocID="{8BB493B5-980B-46FB-83F7-9CAB85278EAD}" presName="node" presStyleLbl="node1" presStyleIdx="2" presStyleCnt="5">
        <dgm:presLayoutVars>
          <dgm:bulletEnabled val="1"/>
        </dgm:presLayoutVars>
      </dgm:prSet>
      <dgm:spPr/>
    </dgm:pt>
    <dgm:pt modelId="{6838EA0F-9060-463E-873B-17D51786CA03}" type="pres">
      <dgm:prSet presAssocID="{C036AE4B-7F16-454F-A608-A76ABAA67D3C}" presName="sibTrans" presStyleCnt="0"/>
      <dgm:spPr/>
    </dgm:pt>
    <dgm:pt modelId="{89A6AEF9-BCBB-4329-8977-8E8760B24F0C}" type="pres">
      <dgm:prSet presAssocID="{32871FBD-BF13-492C-BC56-03B64D89F9E3}" presName="node" presStyleLbl="node1" presStyleIdx="3" presStyleCnt="5">
        <dgm:presLayoutVars>
          <dgm:bulletEnabled val="1"/>
        </dgm:presLayoutVars>
      </dgm:prSet>
      <dgm:spPr/>
    </dgm:pt>
    <dgm:pt modelId="{E388D762-92B7-4B57-9593-AC1DC9ACC747}" type="pres">
      <dgm:prSet presAssocID="{380315A8-D544-4664-8E6E-BD03A3D6ADDE}" presName="sibTrans" presStyleCnt="0"/>
      <dgm:spPr/>
    </dgm:pt>
    <dgm:pt modelId="{62F07805-531C-461C-9FB2-CDC1465257AC}" type="pres">
      <dgm:prSet presAssocID="{0947A257-CD8F-4362-825A-9B212DC31BAB}" presName="node" presStyleLbl="node1" presStyleIdx="4" presStyleCnt="5">
        <dgm:presLayoutVars>
          <dgm:bulletEnabled val="1"/>
        </dgm:presLayoutVars>
      </dgm:prSet>
      <dgm:spPr/>
    </dgm:pt>
  </dgm:ptLst>
  <dgm:cxnLst>
    <dgm:cxn modelId="{7567A102-AB11-4629-ACDC-3298A7F84A1C}" srcId="{9142C17B-030A-4E19-85EA-1915F73AAE88}" destId="{32871FBD-BF13-492C-BC56-03B64D89F9E3}" srcOrd="3" destOrd="0" parTransId="{EE142BCF-600F-4B3D-8434-8BAF6D3E867A}" sibTransId="{380315A8-D544-4664-8E6E-BD03A3D6ADDE}"/>
    <dgm:cxn modelId="{8C08F626-A731-42B3-9A5A-4E7480A1A610}" type="presOf" srcId="{2A03C4DD-B361-44E8-AF1D-02DE94069DDB}" destId="{ADEAECAB-DF47-4558-9407-7F3F60D681F5}" srcOrd="0" destOrd="0" presId="urn:microsoft.com/office/officeart/2005/8/layout/default"/>
    <dgm:cxn modelId="{017EB238-DE1D-4D1C-83B3-DF626951CA36}" type="presOf" srcId="{32871FBD-BF13-492C-BC56-03B64D89F9E3}" destId="{89A6AEF9-BCBB-4329-8977-8E8760B24F0C}" srcOrd="0" destOrd="0" presId="urn:microsoft.com/office/officeart/2005/8/layout/default"/>
    <dgm:cxn modelId="{5B67BA68-F940-4933-BDE2-CF59938B2B33}" srcId="{9142C17B-030A-4E19-85EA-1915F73AAE88}" destId="{2A03C4DD-B361-44E8-AF1D-02DE94069DDB}" srcOrd="0" destOrd="0" parTransId="{3A55A2BE-CDFD-4441-AB21-3051A18D4449}" sibTransId="{9509A155-2844-481D-B7A2-545DCF4F0790}"/>
    <dgm:cxn modelId="{75C6D596-D7FA-464C-9F4F-8A44D7FFC9E7}" type="presOf" srcId="{9142C17B-030A-4E19-85EA-1915F73AAE88}" destId="{A375783B-4E3F-48F0-8D49-BEFEFEF656C2}" srcOrd="0" destOrd="0" presId="urn:microsoft.com/office/officeart/2005/8/layout/default"/>
    <dgm:cxn modelId="{A671A9A1-93C5-4C65-A388-B49A53B3676E}" type="presOf" srcId="{829CA7E6-C4A4-437F-B580-DC654AA0C916}" destId="{AC55D991-8E25-42A6-A091-0AC8834E9D34}" srcOrd="0" destOrd="0" presId="urn:microsoft.com/office/officeart/2005/8/layout/default"/>
    <dgm:cxn modelId="{10169FC5-5455-40FF-BD70-D0CE8ED37105}" type="presOf" srcId="{8BB493B5-980B-46FB-83F7-9CAB85278EAD}" destId="{A5353A08-5DAE-43E6-A3C2-9AAF27E561C6}" srcOrd="0" destOrd="0" presId="urn:microsoft.com/office/officeart/2005/8/layout/default"/>
    <dgm:cxn modelId="{058720DD-0FA3-49FD-ADDD-E145C6573171}" type="presOf" srcId="{0947A257-CD8F-4362-825A-9B212DC31BAB}" destId="{62F07805-531C-461C-9FB2-CDC1465257AC}" srcOrd="0" destOrd="0" presId="urn:microsoft.com/office/officeart/2005/8/layout/default"/>
    <dgm:cxn modelId="{42D47FE3-814E-421A-A32D-9EBFEFC444A5}" srcId="{9142C17B-030A-4E19-85EA-1915F73AAE88}" destId="{829CA7E6-C4A4-437F-B580-DC654AA0C916}" srcOrd="1" destOrd="0" parTransId="{413016C3-3529-40DF-BD66-21FF0A70CEF1}" sibTransId="{A0C6D5E9-508C-461D-9C96-00BAC1CDC90F}"/>
    <dgm:cxn modelId="{6B24BAF2-AD3C-4239-8CE1-D7FCDF0D718E}" srcId="{9142C17B-030A-4E19-85EA-1915F73AAE88}" destId="{8BB493B5-980B-46FB-83F7-9CAB85278EAD}" srcOrd="2" destOrd="0" parTransId="{380106A9-98AA-4D78-AB87-2CA20C416C18}" sibTransId="{C036AE4B-7F16-454F-A608-A76ABAA67D3C}"/>
    <dgm:cxn modelId="{FB0DCFF3-9063-4C67-9A79-29B15A0CDCCF}" srcId="{9142C17B-030A-4E19-85EA-1915F73AAE88}" destId="{0947A257-CD8F-4362-825A-9B212DC31BAB}" srcOrd="4" destOrd="0" parTransId="{0F14DC58-6663-4233-88F7-8954E63FD589}" sibTransId="{0196A4D2-9556-46EA-A2E9-9513A505BC4E}"/>
    <dgm:cxn modelId="{E9690BD8-C55E-4063-B2AE-91E1985C0DBA}" type="presParOf" srcId="{A375783B-4E3F-48F0-8D49-BEFEFEF656C2}" destId="{ADEAECAB-DF47-4558-9407-7F3F60D681F5}" srcOrd="0" destOrd="0" presId="urn:microsoft.com/office/officeart/2005/8/layout/default"/>
    <dgm:cxn modelId="{181BE36A-D91C-4A02-8DF1-FAA2DDC63AE1}" type="presParOf" srcId="{A375783B-4E3F-48F0-8D49-BEFEFEF656C2}" destId="{230890E3-87D3-416A-89E5-2A514DABC3D9}" srcOrd="1" destOrd="0" presId="urn:microsoft.com/office/officeart/2005/8/layout/default"/>
    <dgm:cxn modelId="{BDE640E7-EE1C-4E54-8235-22B93BC9CA81}" type="presParOf" srcId="{A375783B-4E3F-48F0-8D49-BEFEFEF656C2}" destId="{AC55D991-8E25-42A6-A091-0AC8834E9D34}" srcOrd="2" destOrd="0" presId="urn:microsoft.com/office/officeart/2005/8/layout/default"/>
    <dgm:cxn modelId="{C5CA44C9-EEBF-404B-A91C-57E3948AD427}" type="presParOf" srcId="{A375783B-4E3F-48F0-8D49-BEFEFEF656C2}" destId="{059D90B9-C9B6-4954-843F-DBF0CB4E748C}" srcOrd="3" destOrd="0" presId="urn:microsoft.com/office/officeart/2005/8/layout/default"/>
    <dgm:cxn modelId="{B3449122-B2B3-4BE8-8353-68B55141FB23}" type="presParOf" srcId="{A375783B-4E3F-48F0-8D49-BEFEFEF656C2}" destId="{A5353A08-5DAE-43E6-A3C2-9AAF27E561C6}" srcOrd="4" destOrd="0" presId="urn:microsoft.com/office/officeart/2005/8/layout/default"/>
    <dgm:cxn modelId="{EB846C9C-C397-4B15-91F2-01BEB7F113EC}" type="presParOf" srcId="{A375783B-4E3F-48F0-8D49-BEFEFEF656C2}" destId="{6838EA0F-9060-463E-873B-17D51786CA03}" srcOrd="5" destOrd="0" presId="urn:microsoft.com/office/officeart/2005/8/layout/default"/>
    <dgm:cxn modelId="{E3DF4B85-D65B-4E64-9D83-F38D8F247AE3}" type="presParOf" srcId="{A375783B-4E3F-48F0-8D49-BEFEFEF656C2}" destId="{89A6AEF9-BCBB-4329-8977-8E8760B24F0C}" srcOrd="6" destOrd="0" presId="urn:microsoft.com/office/officeart/2005/8/layout/default"/>
    <dgm:cxn modelId="{A98C4EAC-A57D-4471-8D96-044704A014CD}" type="presParOf" srcId="{A375783B-4E3F-48F0-8D49-BEFEFEF656C2}" destId="{E388D762-92B7-4B57-9593-AC1DC9ACC747}" srcOrd="7" destOrd="0" presId="urn:microsoft.com/office/officeart/2005/8/layout/default"/>
    <dgm:cxn modelId="{D926A2CB-C79D-4AF9-8E79-28E16ED2D78D}" type="presParOf" srcId="{A375783B-4E3F-48F0-8D49-BEFEFEF656C2}" destId="{62F07805-531C-461C-9FB2-CDC1465257A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04C6CE-5712-42D8-96CF-15D098FD128F}">
      <dsp:nvSpPr>
        <dsp:cNvPr id="0" name=""/>
        <dsp:cNvSpPr/>
      </dsp:nvSpPr>
      <dsp:spPr>
        <a:xfrm>
          <a:off x="2714651" y="2382"/>
          <a:ext cx="1175516" cy="7640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</a:t>
          </a:r>
          <a:r>
            <a:rPr lang="en-US" sz="900" b="1" kern="1200" dirty="0"/>
            <a:t>COLLECTION OF DATA</a:t>
          </a:r>
          <a:endParaRPr lang="en-IN" sz="900" b="1" kern="1200" dirty="0"/>
        </a:p>
      </dsp:txBody>
      <dsp:txXfrm>
        <a:off x="2751951" y="39682"/>
        <a:ext cx="1100916" cy="689485"/>
      </dsp:txXfrm>
    </dsp:sp>
    <dsp:sp modelId="{27C43E0E-3808-4EFF-BFF4-167A8FC3508A}">
      <dsp:nvSpPr>
        <dsp:cNvPr id="0" name=""/>
        <dsp:cNvSpPr/>
      </dsp:nvSpPr>
      <dsp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2774115" y="82972"/>
              </a:moveTo>
              <a:arcTo wR="2178597" hR="2178597" stAng="17151820" swAng="1254223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CD0108-65C8-43B4-BEE0-60AE4E8A0B1A}">
      <dsp:nvSpPr>
        <dsp:cNvPr id="0" name=""/>
        <dsp:cNvSpPr/>
      </dsp:nvSpPr>
      <dsp:spPr>
        <a:xfrm>
          <a:off x="4417947" y="822646"/>
          <a:ext cx="1175516" cy="7640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UNDERSTANDING DATA AND BUSINESS PROBLEM</a:t>
          </a:r>
          <a:endParaRPr lang="en-IN" sz="900" kern="1200" dirty="0"/>
        </a:p>
      </dsp:txBody>
      <dsp:txXfrm>
        <a:off x="4455247" y="859946"/>
        <a:ext cx="1100916" cy="689485"/>
      </dsp:txXfrm>
    </dsp:sp>
    <dsp:sp modelId="{66254013-CB3D-40F8-861A-0FDA530DF552}">
      <dsp:nvSpPr>
        <dsp:cNvPr id="0" name=""/>
        <dsp:cNvSpPr/>
      </dsp:nvSpPr>
      <dsp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4131114" y="1212179"/>
              </a:moveTo>
              <a:arcTo wR="2178597" hR="2178597" stAng="20019986" swAng="1724791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9E8B4E-22AD-4CD1-AD70-C9958E513500}">
      <dsp:nvSpPr>
        <dsp:cNvPr id="0" name=""/>
        <dsp:cNvSpPr/>
      </dsp:nvSpPr>
      <dsp:spPr>
        <a:xfrm>
          <a:off x="4838627" y="2665763"/>
          <a:ext cx="1175516" cy="7640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DATA CLEANING</a:t>
          </a:r>
          <a:endParaRPr lang="en-IN" sz="900" kern="1200" dirty="0"/>
        </a:p>
      </dsp:txBody>
      <dsp:txXfrm>
        <a:off x="4875927" y="2703063"/>
        <a:ext cx="1100916" cy="689485"/>
      </dsp:txXfrm>
    </dsp:sp>
    <dsp:sp modelId="{44A17887-A06B-4EBC-8AA8-414F5DDA011D}">
      <dsp:nvSpPr>
        <dsp:cNvPr id="0" name=""/>
        <dsp:cNvSpPr/>
      </dsp:nvSpPr>
      <dsp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4173837" y="3053411"/>
              </a:moveTo>
              <a:arcTo wR="2178597" hR="2178597" stAng="1420504" swAng="1356908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6938F-7F5A-4BA8-A81F-157C861B064F}">
      <dsp:nvSpPr>
        <dsp:cNvPr id="0" name=""/>
        <dsp:cNvSpPr/>
      </dsp:nvSpPr>
      <dsp:spPr>
        <a:xfrm>
          <a:off x="3659909" y="4143827"/>
          <a:ext cx="1175516" cy="7640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DATA TRANSFORMATION</a:t>
          </a:r>
          <a:endParaRPr lang="en-IN" sz="900" kern="1200" dirty="0"/>
        </a:p>
      </dsp:txBody>
      <dsp:txXfrm>
        <a:off x="3697209" y="4181127"/>
        <a:ext cx="1100916" cy="689485"/>
      </dsp:txXfrm>
    </dsp:sp>
    <dsp:sp modelId="{26A7B968-9A34-4669-BD91-6EE0E74FDF5B}">
      <dsp:nvSpPr>
        <dsp:cNvPr id="0" name=""/>
        <dsp:cNvSpPr/>
      </dsp:nvSpPr>
      <dsp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2529041" y="4328823"/>
              </a:moveTo>
              <a:arcTo wR="2178597" hR="2178597" stAng="4844598" swAng="111080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F921D-63E9-4DD2-9A7C-41CC948A0AD2}">
      <dsp:nvSpPr>
        <dsp:cNvPr id="0" name=""/>
        <dsp:cNvSpPr/>
      </dsp:nvSpPr>
      <dsp:spPr>
        <a:xfrm>
          <a:off x="1769394" y="4143827"/>
          <a:ext cx="1175516" cy="7640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EXPLORATORY DATA ANALYSIS</a:t>
          </a:r>
          <a:endParaRPr lang="en-IN" sz="900" kern="1200" dirty="0"/>
        </a:p>
      </dsp:txBody>
      <dsp:txXfrm>
        <a:off x="1806694" y="4181127"/>
        <a:ext cx="1100916" cy="689485"/>
      </dsp:txXfrm>
    </dsp:sp>
    <dsp:sp modelId="{42CFA3A9-7E3A-4619-A728-11801D1AD5E6}">
      <dsp:nvSpPr>
        <dsp:cNvPr id="0" name=""/>
        <dsp:cNvSpPr/>
      </dsp:nvSpPr>
      <dsp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673173" y="3753393"/>
              </a:moveTo>
              <a:arcTo wR="2178597" hR="2178597" stAng="8022588" swAng="1356908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9D33C-2867-40CA-9DC0-048DB375A47A}">
      <dsp:nvSpPr>
        <dsp:cNvPr id="0" name=""/>
        <dsp:cNvSpPr/>
      </dsp:nvSpPr>
      <dsp:spPr>
        <a:xfrm>
          <a:off x="590676" y="2665763"/>
          <a:ext cx="1175516" cy="7640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DATA VISUALIZATION</a:t>
          </a:r>
          <a:endParaRPr lang="en-IN" sz="900" kern="1200" dirty="0"/>
        </a:p>
      </dsp:txBody>
      <dsp:txXfrm>
        <a:off x="627976" y="2703063"/>
        <a:ext cx="1100916" cy="689485"/>
      </dsp:txXfrm>
    </dsp:sp>
    <dsp:sp modelId="{0B40C058-B9A4-4E83-8BBA-5CC400DD317F}">
      <dsp:nvSpPr>
        <dsp:cNvPr id="0" name=""/>
        <dsp:cNvSpPr/>
      </dsp:nvSpPr>
      <dsp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1931" y="2270319"/>
              </a:moveTo>
              <a:arcTo wR="2178597" hR="2178597" stAng="10655223" swAng="1724791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6EDD6-9965-4633-A5A0-1F1DE2B74C84}">
      <dsp:nvSpPr>
        <dsp:cNvPr id="0" name=""/>
        <dsp:cNvSpPr/>
      </dsp:nvSpPr>
      <dsp:spPr>
        <a:xfrm>
          <a:off x="1011356" y="822646"/>
          <a:ext cx="1175516" cy="7640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PRESENT FINAL INSIGHTS</a:t>
          </a:r>
          <a:endParaRPr lang="en-IN" sz="900" kern="1200" dirty="0"/>
        </a:p>
      </dsp:txBody>
      <dsp:txXfrm>
        <a:off x="1048656" y="859946"/>
        <a:ext cx="1100916" cy="689485"/>
      </dsp:txXfrm>
    </dsp:sp>
    <dsp:sp modelId="{69AEF8DB-51D5-4DD3-8936-93B548B128DB}">
      <dsp:nvSpPr>
        <dsp:cNvPr id="0" name=""/>
        <dsp:cNvSpPr/>
      </dsp:nvSpPr>
      <dsp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874559" y="433383"/>
              </a:moveTo>
              <a:arcTo wR="2178597" hR="2178597" stAng="13993958" swAng="1254223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ECAB-DF47-4558-9407-7F3F60D681F5}">
      <dsp:nvSpPr>
        <dsp:cNvPr id="0" name=""/>
        <dsp:cNvSpPr/>
      </dsp:nvSpPr>
      <dsp:spPr>
        <a:xfrm>
          <a:off x="0" y="445520"/>
          <a:ext cx="1847927" cy="1108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CUSTOMERS BASED ANALYSIS</a:t>
          </a:r>
        </a:p>
      </dsp:txBody>
      <dsp:txXfrm>
        <a:off x="0" y="445520"/>
        <a:ext cx="1847927" cy="1108756"/>
      </dsp:txXfrm>
    </dsp:sp>
    <dsp:sp modelId="{AC55D991-8E25-42A6-A091-0AC8834E9D34}">
      <dsp:nvSpPr>
        <dsp:cNvPr id="0" name=""/>
        <dsp:cNvSpPr/>
      </dsp:nvSpPr>
      <dsp:spPr>
        <a:xfrm>
          <a:off x="2032720" y="445520"/>
          <a:ext cx="1847927" cy="1108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PRODUCT BASED ANALYSIS</a:t>
          </a:r>
        </a:p>
      </dsp:txBody>
      <dsp:txXfrm>
        <a:off x="2032720" y="445520"/>
        <a:ext cx="1847927" cy="1108756"/>
      </dsp:txXfrm>
    </dsp:sp>
    <dsp:sp modelId="{A5353A08-5DAE-43E6-A3C2-9AAF27E561C6}">
      <dsp:nvSpPr>
        <dsp:cNvPr id="0" name=""/>
        <dsp:cNvSpPr/>
      </dsp:nvSpPr>
      <dsp:spPr>
        <a:xfrm>
          <a:off x="4065441" y="445520"/>
          <a:ext cx="1847927" cy="1108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PAYMENT BASED ANALYSIS</a:t>
          </a:r>
        </a:p>
      </dsp:txBody>
      <dsp:txXfrm>
        <a:off x="4065441" y="445520"/>
        <a:ext cx="1847927" cy="1108756"/>
      </dsp:txXfrm>
    </dsp:sp>
    <dsp:sp modelId="{89A6AEF9-BCBB-4329-8977-8E8760B24F0C}">
      <dsp:nvSpPr>
        <dsp:cNvPr id="0" name=""/>
        <dsp:cNvSpPr/>
      </dsp:nvSpPr>
      <dsp:spPr>
        <a:xfrm>
          <a:off x="1016360" y="1739070"/>
          <a:ext cx="1847927" cy="1108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REGION BASED ANALYSIS</a:t>
          </a:r>
        </a:p>
      </dsp:txBody>
      <dsp:txXfrm>
        <a:off x="1016360" y="1739070"/>
        <a:ext cx="1847927" cy="1108756"/>
      </dsp:txXfrm>
    </dsp:sp>
    <dsp:sp modelId="{62F07805-531C-461C-9FB2-CDC1465257AC}">
      <dsp:nvSpPr>
        <dsp:cNvPr id="0" name=""/>
        <dsp:cNvSpPr/>
      </dsp:nvSpPr>
      <dsp:spPr>
        <a:xfrm>
          <a:off x="3049080" y="1739070"/>
          <a:ext cx="1847927" cy="1108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DATE WISE ANALYSIS</a:t>
          </a:r>
        </a:p>
      </dsp:txBody>
      <dsp:txXfrm>
        <a:off x="3049080" y="1739070"/>
        <a:ext cx="1847927" cy="1108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23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86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47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8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275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88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1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3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47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97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102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666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480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885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276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555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46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D42668-6393-48E8-B069-FE7311773A4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475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D17E-AAF9-16AB-314C-33E25AEA8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0060" y="2799735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IN" cap="all" dirty="0"/>
              <a:t>PROJECT PRESENTATION</a:t>
            </a:r>
            <a:br>
              <a:rPr lang="en-IN" cap="all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879D6-025C-3DFC-6C65-4BC1843AF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4216" y="2054884"/>
            <a:ext cx="7766936" cy="109689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ONLINE SALES DATASET</a:t>
            </a:r>
            <a:r>
              <a:rPr lang="en-IN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945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3CD-4596-2904-6160-43F0C6285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21966" y="2246038"/>
            <a:ext cx="7766936" cy="1646302"/>
          </a:xfrm>
        </p:spPr>
        <p:txBody>
          <a:bodyPr/>
          <a:lstStyle/>
          <a:p>
            <a:r>
              <a:rPr lang="en-IN" sz="3200" b="1" cap="all" dirty="0">
                <a:solidFill>
                  <a:srgbClr val="00B0F0"/>
                </a:solidFill>
              </a:rPr>
              <a:t>DESCRIPTION ABOUT DATA</a:t>
            </a:r>
            <a:br>
              <a:rPr lang="en-IN" b="1" cap="all" dirty="0">
                <a:solidFill>
                  <a:srgbClr val="00B0F0"/>
                </a:solidFill>
              </a:rPr>
            </a:b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DE3E8-A089-F4D4-9FE6-12E0F9D48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4461" y="3023023"/>
            <a:ext cx="7766936" cy="1096899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1800" dirty="0"/>
              <a:t>The Online Sales Dataset contains transactional data collected from an e-commerce platform. It records details of customer purchases made through an online website over a specific time period. The dataset helps analyze sales performance, customer's review rating and product demand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E603D-75A5-0BC2-6D0C-0882CC8AAC61}"/>
              </a:ext>
            </a:extLst>
          </p:cNvPr>
          <p:cNvSpPr txBox="1"/>
          <p:nvPr/>
        </p:nvSpPr>
        <p:spPr>
          <a:xfrm>
            <a:off x="1843548" y="3023023"/>
            <a:ext cx="87971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53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844985-848E-6E38-35FA-B6E4C3E5DDAB}"/>
              </a:ext>
            </a:extLst>
          </p:cNvPr>
          <p:cNvSpPr txBox="1"/>
          <p:nvPr/>
        </p:nvSpPr>
        <p:spPr>
          <a:xfrm>
            <a:off x="2349910" y="12901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2400" b="1" kern="1200" cap="all" dirty="0">
                <a:solidFill>
                  <a:srgbClr val="30ACEC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PROCESS </a:t>
            </a:r>
            <a:endParaRPr lang="en-IN" sz="2400" b="1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AB615-C489-4D0E-DB00-9B613381E349}"/>
              </a:ext>
            </a:extLst>
          </p:cNvPr>
          <p:cNvSpPr txBox="1"/>
          <p:nvPr/>
        </p:nvSpPr>
        <p:spPr>
          <a:xfrm>
            <a:off x="3048000" y="1744779"/>
            <a:ext cx="609600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464" indent="-283464" algn="just" rtl="0" eaLnBrk="1" latinLnBrk="0" hangingPunct="1">
              <a:lnSpc>
                <a:spcPct val="150000"/>
              </a:lnSpc>
              <a:buClrTx/>
              <a:buSzPts val="18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First we can checked the information of the dataset regarding their  feature, datatype and null value.</a:t>
            </a:r>
            <a:endParaRPr lang="en-IN" sz="1800" dirty="0">
              <a:effectLst/>
            </a:endParaRPr>
          </a:p>
          <a:p>
            <a:pPr marL="285750" indent="-285750" algn="just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Checked the unique features </a:t>
            </a:r>
            <a:endParaRPr lang="en-IN" dirty="0">
              <a:effectLst/>
            </a:endParaRPr>
          </a:p>
          <a:p>
            <a:pPr marL="285750" indent="-285750" algn="just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Checked duplicates for the features.</a:t>
            </a:r>
            <a:endParaRPr lang="en-IN" dirty="0">
              <a:effectLst/>
            </a:endParaRPr>
          </a:p>
          <a:p>
            <a:pPr marL="285750" indent="-285750" algn="just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EDA-In this process we segmented and segregated the features and framed questions.</a:t>
            </a:r>
            <a:endParaRPr lang="en-IN" dirty="0">
              <a:effectLst/>
            </a:endParaRPr>
          </a:p>
          <a:p>
            <a:pPr marL="285750" indent="-285750" algn="just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After segmentation we grouped the questions accordingly, we visualize for better understanding.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0525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4FB8B-3097-BEA7-7E3A-98168B104A73}"/>
              </a:ext>
            </a:extLst>
          </p:cNvPr>
          <p:cNvSpPr txBox="1"/>
          <p:nvPr/>
        </p:nvSpPr>
        <p:spPr>
          <a:xfrm>
            <a:off x="1622323" y="813062"/>
            <a:ext cx="533357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cap="all" dirty="0">
                <a:solidFill>
                  <a:schemeClr val="accent1"/>
                </a:solidFill>
              </a:rPr>
              <a:t>WORKFLOW OF DATA ANALYSIS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15C74BD-F453-B135-CD53-7C7004DA61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4009516"/>
              </p:ext>
            </p:extLst>
          </p:nvPr>
        </p:nvGraphicFramePr>
        <p:xfrm>
          <a:off x="3653489" y="1613281"/>
          <a:ext cx="6604820" cy="4910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193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8E9D6-BCC9-3E87-3CC7-5BAAFC7A31F2}"/>
              </a:ext>
            </a:extLst>
          </p:cNvPr>
          <p:cNvSpPr txBox="1"/>
          <p:nvPr/>
        </p:nvSpPr>
        <p:spPr>
          <a:xfrm>
            <a:off x="1462925" y="1115106"/>
            <a:ext cx="35418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cap="all" dirty="0">
                <a:solidFill>
                  <a:schemeClr val="accent1"/>
                </a:solidFill>
              </a:rPr>
              <a:t>1. collection of data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34D2B-DEA0-C50D-E79E-E29F850209C5}"/>
              </a:ext>
            </a:extLst>
          </p:cNvPr>
          <p:cNvSpPr txBox="1"/>
          <p:nvPr/>
        </p:nvSpPr>
        <p:spPr>
          <a:xfrm>
            <a:off x="2098752" y="1899936"/>
            <a:ext cx="80765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Collected this data from Kaggle by checking their rows , columns and null values.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Downloaded in CSV format .</a:t>
            </a:r>
          </a:p>
          <a:p>
            <a:endParaRPr lang="en-US" dirty="0"/>
          </a:p>
          <a:p>
            <a:endParaRPr lang="en-IN" cap="al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46748-55CF-1863-7EB2-08012D07881A}"/>
              </a:ext>
            </a:extLst>
          </p:cNvPr>
          <p:cNvSpPr txBox="1"/>
          <p:nvPr/>
        </p:nvSpPr>
        <p:spPr>
          <a:xfrm>
            <a:off x="1462925" y="3423430"/>
            <a:ext cx="73959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all" dirty="0">
                <a:solidFill>
                  <a:schemeClr val="accent1"/>
                </a:solidFill>
              </a:rPr>
              <a:t>2.UNDERSTANDING DATA AND BUSINESS PROBLEM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E2241-09A4-5428-1109-47CFCF7E5B55}"/>
              </a:ext>
            </a:extLst>
          </p:cNvPr>
          <p:cNvSpPr txBox="1"/>
          <p:nvPr/>
        </p:nvSpPr>
        <p:spPr>
          <a:xfrm>
            <a:off x="2081988" y="4069761"/>
            <a:ext cx="1011001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dataset includes customers personal details like Customer id , </a:t>
            </a:r>
            <a:r>
              <a:rPr lang="en-IN" b="1" dirty="0"/>
              <a:t>State</a:t>
            </a:r>
            <a:r>
              <a:rPr lang="en-IN" dirty="0"/>
              <a:t> and </a:t>
            </a:r>
            <a:r>
              <a:rPr lang="en-IN" b="1" dirty="0"/>
              <a:t>Country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contains product information like </a:t>
            </a:r>
            <a:r>
              <a:rPr lang="en-IN" b="1" dirty="0"/>
              <a:t>Product Category, Product Name, Quantity, Total Sales INR,</a:t>
            </a:r>
          </a:p>
          <a:p>
            <a:pPr>
              <a:lnSpc>
                <a:spcPct val="150000"/>
              </a:lnSpc>
            </a:pPr>
            <a:r>
              <a:rPr lang="en-IN" b="1" dirty="0"/>
              <a:t>      Unit Price INR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Payment details like </a:t>
            </a:r>
            <a:r>
              <a:rPr lang="en-IN" b="1" dirty="0"/>
              <a:t>Payment Method, Delivery Status, Review Rating , Review Text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4F75A-4578-F2FE-115F-8AB57DA4FD12}"/>
              </a:ext>
            </a:extLst>
          </p:cNvPr>
          <p:cNvSpPr txBox="1"/>
          <p:nvPr/>
        </p:nvSpPr>
        <p:spPr>
          <a:xfrm>
            <a:off x="1278194" y="52700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2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4597EF-4610-DB38-706E-8F4CA25210A0}"/>
              </a:ext>
            </a:extLst>
          </p:cNvPr>
          <p:cNvSpPr txBox="1"/>
          <p:nvPr/>
        </p:nvSpPr>
        <p:spPr>
          <a:xfrm>
            <a:off x="2399071" y="1325256"/>
            <a:ext cx="708597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Checked for null values            -                   No null values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Checked for duplicates             -                   No duplicates</a:t>
            </a:r>
          </a:p>
          <a:p>
            <a:pPr>
              <a:lnSpc>
                <a:spcPct val="150000"/>
              </a:lnSpc>
            </a:pPr>
            <a:r>
              <a:rPr lang="en-IN" dirty="0"/>
              <a:t>    (ordered id &amp; customer id)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Checked for unique features       -              Each has it’s own unique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Checked rows and columns          -             ROWS-</a:t>
            </a:r>
            <a:r>
              <a:rPr lang="en-IN" dirty="0"/>
              <a:t>15000</a:t>
            </a:r>
            <a:r>
              <a:rPr lang="en-US" dirty="0"/>
              <a:t>     COLUMNS-13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1D6AF-1A7C-2A2E-D796-186DC8B12AEA}"/>
              </a:ext>
            </a:extLst>
          </p:cNvPr>
          <p:cNvSpPr txBox="1"/>
          <p:nvPr/>
        </p:nvSpPr>
        <p:spPr>
          <a:xfrm>
            <a:off x="1710814" y="4090219"/>
            <a:ext cx="36935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cap="all" dirty="0">
                <a:solidFill>
                  <a:schemeClr val="accent1"/>
                </a:solidFill>
              </a:rPr>
              <a:t>data transformation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85233-E6C8-5791-7F4D-91BAA613CDB1}"/>
              </a:ext>
            </a:extLst>
          </p:cNvPr>
          <p:cNvSpPr txBox="1"/>
          <p:nvPr/>
        </p:nvSpPr>
        <p:spPr>
          <a:xfrm>
            <a:off x="2399071" y="4753104"/>
            <a:ext cx="574039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Dataset prepared for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Features made easier to understand and compare.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Ready for visualization and further analysis.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EC57F-A104-3E46-A25C-0B20F2FA5A8C}"/>
              </a:ext>
            </a:extLst>
          </p:cNvPr>
          <p:cNvSpPr txBox="1"/>
          <p:nvPr/>
        </p:nvSpPr>
        <p:spPr>
          <a:xfrm>
            <a:off x="1710814" y="598120"/>
            <a:ext cx="2457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2032689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74FF6A-4728-1CC2-E2EF-D1C091D5D3D9}"/>
              </a:ext>
            </a:extLst>
          </p:cNvPr>
          <p:cNvSpPr txBox="1"/>
          <p:nvPr/>
        </p:nvSpPr>
        <p:spPr>
          <a:xfrm>
            <a:off x="1946787" y="383458"/>
            <a:ext cx="45449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cap="all" dirty="0">
                <a:solidFill>
                  <a:schemeClr val="accent1"/>
                </a:solidFill>
              </a:rPr>
              <a:t>exploratory data analysis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BA5FC-EC61-8B22-4F25-88862095BFC1}"/>
              </a:ext>
            </a:extLst>
          </p:cNvPr>
          <p:cNvSpPr txBox="1"/>
          <p:nvPr/>
        </p:nvSpPr>
        <p:spPr>
          <a:xfrm>
            <a:off x="2595715" y="1121383"/>
            <a:ext cx="8195129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understand data patterns &amp;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the sales performance by customers review rating and 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this analysis transaction records , Payment method &amp;which product sales highest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94310-4309-5724-3658-697FC3FE8E8A}"/>
              </a:ext>
            </a:extLst>
          </p:cNvPr>
          <p:cNvSpPr txBox="1"/>
          <p:nvPr/>
        </p:nvSpPr>
        <p:spPr>
          <a:xfrm>
            <a:off x="1946787" y="2921876"/>
            <a:ext cx="38949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cap="all" dirty="0">
                <a:solidFill>
                  <a:schemeClr val="accent1"/>
                </a:solidFill>
              </a:rPr>
              <a:t>segmentation analysis</a:t>
            </a:r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E4C18E-B637-763A-79BC-C38BC3999E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3765311"/>
              </p:ext>
            </p:extLst>
          </p:nvPr>
        </p:nvGraphicFramePr>
        <p:xfrm>
          <a:off x="4219268" y="3291208"/>
          <a:ext cx="5913369" cy="3293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42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E934-C37F-F396-851E-4F573761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2298290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CUSTOMERS BASED ANALYSIS</a:t>
            </a:r>
          </a:p>
        </p:txBody>
      </p:sp>
    </p:spTree>
    <p:extLst>
      <p:ext uri="{BB962C8B-B14F-4D97-AF65-F5344CB8AC3E}">
        <p14:creationId xmlns:p14="http://schemas.microsoft.com/office/powerpoint/2010/main" val="1890353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73B881F-D724-584F-2020-BC19F3C3868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978" y="582101"/>
            <a:ext cx="6523300" cy="430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9E22F-FDE9-FACB-4B12-B97063C7F259}"/>
              </a:ext>
            </a:extLst>
          </p:cNvPr>
          <p:cNvSpPr txBox="1"/>
          <p:nvPr/>
        </p:nvSpPr>
        <p:spPr>
          <a:xfrm>
            <a:off x="1962891" y="4980031"/>
            <a:ext cx="10093597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In that </a:t>
            </a:r>
            <a:r>
              <a:rPr lang="en-IN" dirty="0">
                <a:solidFill>
                  <a:srgbClr val="00B0F0"/>
                </a:solidFill>
              </a:rPr>
              <a:t>28</a:t>
            </a:r>
            <a:r>
              <a:rPr lang="en-IN" dirty="0"/>
              <a:t> state </a:t>
            </a:r>
            <a:r>
              <a:rPr lang="en-IN" dirty="0">
                <a:solidFill>
                  <a:schemeClr val="accent2"/>
                </a:solidFill>
              </a:rPr>
              <a:t>Sikkim</a:t>
            </a:r>
            <a:r>
              <a:rPr lang="en-IN" dirty="0"/>
              <a:t> has the highest product sales at about </a:t>
            </a:r>
            <a:r>
              <a:rPr lang="en-IN" dirty="0">
                <a:solidFill>
                  <a:srgbClr val="00B0F0"/>
                </a:solidFill>
              </a:rPr>
              <a:t>596 </a:t>
            </a:r>
            <a:r>
              <a:rPr lang="en-IN" dirty="0"/>
              <a:t>,followed by </a:t>
            </a:r>
            <a:r>
              <a:rPr lang="en-IN" dirty="0">
                <a:solidFill>
                  <a:schemeClr val="accent2"/>
                </a:solidFill>
              </a:rPr>
              <a:t>Rajasthan</a:t>
            </a:r>
            <a:r>
              <a:rPr lang="en-IN" dirty="0"/>
              <a:t> has the second </a:t>
            </a:r>
          </a:p>
          <a:p>
            <a:pPr>
              <a:lnSpc>
                <a:spcPct val="150000"/>
              </a:lnSpc>
            </a:pPr>
            <a:r>
              <a:rPr lang="en-IN" dirty="0"/>
              <a:t>Highest product sales at about </a:t>
            </a:r>
            <a:r>
              <a:rPr lang="en-IN" dirty="0">
                <a:solidFill>
                  <a:srgbClr val="00B0F0"/>
                </a:solidFill>
              </a:rPr>
              <a:t>568</a:t>
            </a:r>
            <a:r>
              <a:rPr lang="en-IN" dirty="0"/>
              <a:t> and </a:t>
            </a:r>
            <a:r>
              <a:rPr lang="en-IN" dirty="0">
                <a:solidFill>
                  <a:schemeClr val="accent2"/>
                </a:solidFill>
              </a:rPr>
              <a:t>Others</a:t>
            </a:r>
            <a:r>
              <a:rPr lang="en-IN" dirty="0"/>
              <a:t> are average between </a:t>
            </a:r>
            <a:r>
              <a:rPr lang="en-IN" dirty="0">
                <a:solidFill>
                  <a:srgbClr val="00B0F0"/>
                </a:solidFill>
              </a:rPr>
              <a:t>500</a:t>
            </a:r>
            <a:r>
              <a:rPr lang="en-IN" dirty="0"/>
              <a:t> to </a:t>
            </a:r>
            <a:r>
              <a:rPr lang="en-IN" dirty="0">
                <a:solidFill>
                  <a:srgbClr val="00B0F0"/>
                </a:solidFill>
              </a:rPr>
              <a:t>550</a:t>
            </a:r>
            <a:r>
              <a:rPr lang="en-IN" dirty="0"/>
              <a:t> . </a:t>
            </a:r>
            <a:r>
              <a:rPr lang="en-IN" dirty="0" err="1">
                <a:solidFill>
                  <a:schemeClr val="accent2"/>
                </a:solidFill>
              </a:rPr>
              <a:t>Andhrapradhesh</a:t>
            </a:r>
            <a:r>
              <a:rPr lang="en-IN" dirty="0">
                <a:solidFill>
                  <a:schemeClr val="accent2"/>
                </a:solidFill>
              </a:rPr>
              <a:t> </a:t>
            </a:r>
            <a:r>
              <a:rPr lang="en-IN" dirty="0"/>
              <a:t>has </a:t>
            </a:r>
          </a:p>
          <a:p>
            <a:pPr>
              <a:lnSpc>
                <a:spcPct val="150000"/>
              </a:lnSpc>
            </a:pPr>
            <a:r>
              <a:rPr lang="en-IN" dirty="0"/>
              <a:t>Least product sales at about </a:t>
            </a:r>
            <a:r>
              <a:rPr lang="en-IN" dirty="0">
                <a:solidFill>
                  <a:srgbClr val="00B0F0"/>
                </a:solidFill>
              </a:rPr>
              <a:t>480</a:t>
            </a:r>
          </a:p>
        </p:txBody>
      </p:sp>
    </p:spTree>
    <p:extLst>
      <p:ext uri="{BB962C8B-B14F-4D97-AF65-F5344CB8AC3E}">
        <p14:creationId xmlns:p14="http://schemas.microsoft.com/office/powerpoint/2010/main" val="216221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B6C2-49F3-3922-0212-981685AA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808" y="2711245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PRODUCT BASED ANALYSIS</a:t>
            </a:r>
            <a:br>
              <a:rPr lang="en-IN" dirty="0">
                <a:solidFill>
                  <a:schemeClr val="accent1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921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8FF2079-6997-5306-C4FF-C22FB8797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092" y="334449"/>
            <a:ext cx="4522838" cy="350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E0E9B0-B16D-8BED-798B-3A3AC17984D8}"/>
              </a:ext>
            </a:extLst>
          </p:cNvPr>
          <p:cNvSpPr txBox="1"/>
          <p:nvPr/>
        </p:nvSpPr>
        <p:spPr>
          <a:xfrm>
            <a:off x="2604267" y="4027039"/>
            <a:ext cx="8028480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In that 5 product </a:t>
            </a:r>
            <a:r>
              <a:rPr lang="en-IN" dirty="0">
                <a:solidFill>
                  <a:schemeClr val="accent1"/>
                </a:solidFill>
              </a:rPr>
              <a:t>Electronic product  </a:t>
            </a:r>
            <a:r>
              <a:rPr lang="en-IN" dirty="0"/>
              <a:t>has most ordered by customers at about </a:t>
            </a:r>
            <a:r>
              <a:rPr lang="en-IN" dirty="0">
                <a:solidFill>
                  <a:srgbClr val="00B0F0"/>
                </a:solidFill>
              </a:rPr>
              <a:t>3036</a:t>
            </a:r>
            <a:r>
              <a:rPr lang="en-IN" dirty="0"/>
              <a:t>,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followed by </a:t>
            </a:r>
            <a:r>
              <a:rPr lang="en-IN" dirty="0">
                <a:solidFill>
                  <a:schemeClr val="accent1"/>
                </a:solidFill>
              </a:rPr>
              <a:t>Books</a:t>
            </a:r>
            <a:r>
              <a:rPr lang="en-IN" dirty="0"/>
              <a:t> has also most ordered by customers at about </a:t>
            </a:r>
            <a:r>
              <a:rPr lang="en-IN" dirty="0">
                <a:solidFill>
                  <a:srgbClr val="00B0F0"/>
                </a:solidFill>
              </a:rPr>
              <a:t>3035</a:t>
            </a:r>
            <a:r>
              <a:rPr lang="en-IN" dirty="0"/>
              <a:t>, </a:t>
            </a:r>
            <a:r>
              <a:rPr lang="en-IN" dirty="0">
                <a:solidFill>
                  <a:schemeClr val="accent1"/>
                </a:solidFill>
              </a:rPr>
              <a:t>Beauty</a:t>
            </a:r>
            <a:r>
              <a:rPr lang="en-IN" dirty="0"/>
              <a:t>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product has ordered  about </a:t>
            </a:r>
            <a:r>
              <a:rPr lang="en-IN" dirty="0">
                <a:solidFill>
                  <a:srgbClr val="00B0F0"/>
                </a:solidFill>
              </a:rPr>
              <a:t>2995</a:t>
            </a:r>
            <a:r>
              <a:rPr lang="en-IN" dirty="0"/>
              <a:t>, </a:t>
            </a:r>
            <a:r>
              <a:rPr lang="en-IN" dirty="0">
                <a:solidFill>
                  <a:schemeClr val="accent1"/>
                </a:solidFill>
              </a:rPr>
              <a:t>Clothing</a:t>
            </a:r>
            <a:r>
              <a:rPr lang="en-IN" dirty="0"/>
              <a:t> product has ordered at about</a:t>
            </a:r>
            <a:r>
              <a:rPr lang="en-IN" dirty="0">
                <a:solidFill>
                  <a:srgbClr val="00B0F0"/>
                </a:solidFill>
              </a:rPr>
              <a:t>3022</a:t>
            </a:r>
            <a:r>
              <a:rPr lang="en-IN" dirty="0"/>
              <a:t>,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accent1"/>
                </a:solidFill>
              </a:rPr>
              <a:t>Home &amp; Kitchen</a:t>
            </a:r>
            <a:r>
              <a:rPr lang="en-IN" dirty="0"/>
              <a:t> product has least ordered by  customer at about </a:t>
            </a:r>
            <a:r>
              <a:rPr lang="en-IN" dirty="0">
                <a:solidFill>
                  <a:srgbClr val="00B0F0"/>
                </a:solidFill>
              </a:rPr>
              <a:t>2910</a:t>
            </a:r>
          </a:p>
        </p:txBody>
      </p:sp>
    </p:spTree>
    <p:extLst>
      <p:ext uri="{BB962C8B-B14F-4D97-AF65-F5344CB8AC3E}">
        <p14:creationId xmlns:p14="http://schemas.microsoft.com/office/powerpoint/2010/main" val="698730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331C34FB-928D-24B4-B9C0-E2A45B5B1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48" y="536310"/>
            <a:ext cx="9129493" cy="4247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50A7B3-6962-B5B8-36F2-A121084361E0}"/>
              </a:ext>
            </a:extLst>
          </p:cNvPr>
          <p:cNvSpPr txBox="1"/>
          <p:nvPr/>
        </p:nvSpPr>
        <p:spPr>
          <a:xfrm>
            <a:off x="4050891" y="5025822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</a:rPr>
              <a:t>Children's book </a:t>
            </a:r>
            <a:r>
              <a:rPr lang="en-US" dirty="0"/>
              <a:t>has the highest review rate at about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</a:rPr>
              <a:t>636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Vacuum cleaner </a:t>
            </a:r>
            <a:r>
              <a:rPr lang="en-US" dirty="0"/>
              <a:t>has the most lowest review rate</a:t>
            </a:r>
          </a:p>
          <a:p>
            <a:pPr>
              <a:lnSpc>
                <a:spcPct val="150000"/>
              </a:lnSpc>
            </a:pPr>
            <a:r>
              <a:rPr lang="en-US" dirty="0"/>
              <a:t>At about </a:t>
            </a:r>
            <a:r>
              <a:rPr lang="en-US" dirty="0">
                <a:solidFill>
                  <a:srgbClr val="00B0F0"/>
                </a:solidFill>
              </a:rPr>
              <a:t>567</a:t>
            </a:r>
            <a:r>
              <a:rPr lang="en-US" dirty="0"/>
              <a:t> ,</a:t>
            </a:r>
            <a:r>
              <a:rPr lang="en-US" dirty="0">
                <a:solidFill>
                  <a:schemeClr val="accent1"/>
                </a:solidFill>
              </a:rPr>
              <a:t>Others</a:t>
            </a:r>
            <a:r>
              <a:rPr lang="en-US" dirty="0"/>
              <a:t> are average between </a:t>
            </a:r>
            <a:r>
              <a:rPr lang="en-US" dirty="0">
                <a:solidFill>
                  <a:srgbClr val="00B0F0"/>
                </a:solidFill>
              </a:rPr>
              <a:t>570 to 620</a:t>
            </a:r>
          </a:p>
        </p:txBody>
      </p:sp>
    </p:spTree>
    <p:extLst>
      <p:ext uri="{BB962C8B-B14F-4D97-AF65-F5344CB8AC3E}">
        <p14:creationId xmlns:p14="http://schemas.microsoft.com/office/powerpoint/2010/main" val="3192559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F286BD7-8F8D-7550-4DDF-3647B042D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831" y="466240"/>
            <a:ext cx="5406543" cy="400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689B73-DF87-2509-CD6C-1F95B3053911}"/>
              </a:ext>
            </a:extLst>
          </p:cNvPr>
          <p:cNvSpPr txBox="1"/>
          <p:nvPr/>
        </p:nvSpPr>
        <p:spPr>
          <a:xfrm>
            <a:off x="2638418" y="4837710"/>
            <a:ext cx="7863371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1"/>
                </a:solidFill>
              </a:rPr>
              <a:t>Books and Electronics </a:t>
            </a:r>
            <a:r>
              <a:rPr lang="en-IN" dirty="0"/>
              <a:t>have highest quantity of product at about </a:t>
            </a:r>
            <a:r>
              <a:rPr lang="en-IN" dirty="0">
                <a:solidFill>
                  <a:srgbClr val="00B0F0"/>
                </a:solidFill>
              </a:rPr>
              <a:t>3036</a:t>
            </a:r>
            <a:r>
              <a:rPr lang="en-IN" dirty="0"/>
              <a:t> &amp; </a:t>
            </a:r>
            <a:r>
              <a:rPr lang="en-IN" dirty="0">
                <a:solidFill>
                  <a:srgbClr val="00B0F0"/>
                </a:solidFill>
              </a:rPr>
              <a:t>3035</a:t>
            </a:r>
            <a:r>
              <a:rPr lang="en-IN" dirty="0"/>
              <a:t>,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1"/>
                </a:solidFill>
              </a:rPr>
              <a:t>Beauty</a:t>
            </a:r>
            <a:r>
              <a:rPr lang="en-IN" dirty="0"/>
              <a:t> product has about </a:t>
            </a:r>
            <a:r>
              <a:rPr lang="en-IN" dirty="0">
                <a:solidFill>
                  <a:srgbClr val="00B0F0"/>
                </a:solidFill>
              </a:rPr>
              <a:t>2997</a:t>
            </a:r>
            <a:r>
              <a:rPr lang="en-IN" dirty="0"/>
              <a:t>,</a:t>
            </a:r>
            <a:r>
              <a:rPr lang="en-IN" dirty="0">
                <a:solidFill>
                  <a:schemeClr val="accent1"/>
                </a:solidFill>
              </a:rPr>
              <a:t>Clothing</a:t>
            </a:r>
            <a:r>
              <a:rPr lang="en-IN" dirty="0"/>
              <a:t> product has about </a:t>
            </a:r>
            <a:r>
              <a:rPr lang="en-IN" dirty="0">
                <a:solidFill>
                  <a:srgbClr val="00B0F0"/>
                </a:solidFill>
              </a:rPr>
              <a:t>3028</a:t>
            </a:r>
            <a:r>
              <a:rPr lang="en-IN" dirty="0"/>
              <a:t>,</a:t>
            </a:r>
            <a:r>
              <a:rPr lang="en-IN" dirty="0">
                <a:solidFill>
                  <a:schemeClr val="accent1"/>
                </a:solidFill>
              </a:rPr>
              <a:t>Home&amp;Kitchen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/>
              <a:t>product has </a:t>
            </a:r>
            <a:r>
              <a:rPr lang="en-IN" dirty="0">
                <a:solidFill>
                  <a:srgbClr val="00B0F0"/>
                </a:solidFill>
              </a:rPr>
              <a:t>2910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590BC-E653-95DA-3608-6C90A12B1652}"/>
              </a:ext>
            </a:extLst>
          </p:cNvPr>
          <p:cNvSpPr txBox="1"/>
          <p:nvPr/>
        </p:nvSpPr>
        <p:spPr>
          <a:xfrm>
            <a:off x="6385373" y="3126658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30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6A8E06D4-8C52-63CC-25EE-F658BFDDF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930" y="348888"/>
            <a:ext cx="8914205" cy="4091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50EA11-5F0D-BB10-A21C-6565914E724F}"/>
              </a:ext>
            </a:extLst>
          </p:cNvPr>
          <p:cNvSpPr txBox="1"/>
          <p:nvPr/>
        </p:nvSpPr>
        <p:spPr>
          <a:xfrm>
            <a:off x="3798098" y="4797746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1800" kern="1200" dirty="0">
                <a:solidFill>
                  <a:srgbClr val="30ACEC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Sneakers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 has highest unit price</a:t>
            </a:r>
            <a:r>
              <a:rPr lang="en-IN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 at about </a:t>
            </a:r>
            <a:r>
              <a:rPr lang="en-IN" sz="1800" kern="1200" dirty="0">
                <a:solidFill>
                  <a:srgbClr val="00B0F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49994.43,</a:t>
            </a:r>
            <a:endParaRPr lang="en-IN" dirty="0">
              <a:effectLst/>
            </a:endParaRPr>
          </a:p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1800" kern="1200" dirty="0">
                <a:solidFill>
                  <a:srgbClr val="30ACEC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Water purifier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 also have high unit price compare to </a:t>
            </a:r>
            <a:r>
              <a:rPr lang="en-US" dirty="0">
                <a:solidFill>
                  <a:srgbClr val="000000"/>
                </a:solidFill>
                <a:latin typeface="Corbel" panose="020B0503020204020204" pitchFamily="34" charset="0"/>
              </a:rPr>
              <a:t>o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thers at about </a:t>
            </a:r>
            <a:r>
              <a:rPr lang="en-US" sz="1800" kern="1200" dirty="0">
                <a:solidFill>
                  <a:srgbClr val="00B0F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49991.10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, </a:t>
            </a:r>
            <a:r>
              <a:rPr lang="en-US" sz="1800" kern="1200" dirty="0">
                <a:solidFill>
                  <a:srgbClr val="30ACEC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Mixer grinder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has most</a:t>
            </a:r>
            <a:r>
              <a:rPr lang="en-IN" dirty="0"/>
              <a:t>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least unit price at about </a:t>
            </a:r>
            <a:r>
              <a:rPr lang="en-US" sz="1800" kern="1200" dirty="0">
                <a:solidFill>
                  <a:srgbClr val="00B0F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49664.09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39835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6D99F93-3382-499B-8B02-DC3653A5C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529" y="706128"/>
            <a:ext cx="5145496" cy="398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F7D6E3-2E0B-F167-3E88-4C268CAFA7F3}"/>
              </a:ext>
            </a:extLst>
          </p:cNvPr>
          <p:cNvSpPr txBox="1"/>
          <p:nvPr/>
        </p:nvSpPr>
        <p:spPr>
          <a:xfrm>
            <a:off x="2484335" y="5071066"/>
            <a:ext cx="89210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Home &amp; Kitchen </a:t>
            </a:r>
            <a:r>
              <a:rPr lang="en-US" dirty="0"/>
              <a:t>has the lowest total sale at About </a:t>
            </a:r>
            <a:r>
              <a:rPr lang="en-US" dirty="0">
                <a:solidFill>
                  <a:srgbClr val="00B0F0"/>
                </a:solidFill>
              </a:rPr>
              <a:t>2910</a:t>
            </a:r>
            <a:r>
              <a:rPr lang="en-US" dirty="0"/>
              <a:t>,</a:t>
            </a:r>
            <a:r>
              <a:rPr lang="en-US" dirty="0">
                <a:solidFill>
                  <a:schemeClr val="accent1"/>
                </a:solidFill>
              </a:rPr>
              <a:t>Electronics</a:t>
            </a:r>
            <a:r>
              <a:rPr lang="en-US" dirty="0"/>
              <a:t>  has highest total sale at </a:t>
            </a:r>
          </a:p>
          <a:p>
            <a:r>
              <a:rPr lang="en-US" dirty="0"/>
              <a:t>About </a:t>
            </a:r>
            <a:r>
              <a:rPr lang="en-US" dirty="0">
                <a:solidFill>
                  <a:srgbClr val="00B0F0"/>
                </a:solidFill>
              </a:rPr>
              <a:t>3036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1A328-9E6E-05CE-4FDE-FA83E8A7515D}"/>
              </a:ext>
            </a:extLst>
          </p:cNvPr>
          <p:cNvSpPr txBox="1"/>
          <p:nvPr/>
        </p:nvSpPr>
        <p:spPr>
          <a:xfrm>
            <a:off x="5358290" y="2700337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540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899674BE-FA09-1553-643B-333EC3206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997" y="392497"/>
            <a:ext cx="5196936" cy="409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CF45C8-F022-757D-9B39-58D4BF585EDD}"/>
              </a:ext>
            </a:extLst>
          </p:cNvPr>
          <p:cNvSpPr txBox="1"/>
          <p:nvPr/>
        </p:nvSpPr>
        <p:spPr>
          <a:xfrm>
            <a:off x="3048000" y="4621163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</a:rPr>
              <a:t>Clothing product </a:t>
            </a:r>
            <a:r>
              <a:rPr lang="en-US" dirty="0"/>
              <a:t>has the most fair deal</a:t>
            </a:r>
            <a:r>
              <a:rPr lang="en-IN" dirty="0"/>
              <a:t> at about </a:t>
            </a:r>
            <a:r>
              <a:rPr lang="en-IN" dirty="0">
                <a:solidFill>
                  <a:srgbClr val="00B0F0"/>
                </a:solidFill>
              </a:rPr>
              <a:t>132</a:t>
            </a:r>
            <a:r>
              <a:rPr lang="en-IN" dirty="0"/>
              <a:t> review text , </a:t>
            </a:r>
            <a:r>
              <a:rPr lang="en-IN" dirty="0">
                <a:solidFill>
                  <a:schemeClr val="accent1"/>
                </a:solidFill>
              </a:rPr>
              <a:t>Electronics</a:t>
            </a:r>
            <a:r>
              <a:rPr lang="en-IN" dirty="0"/>
              <a:t> product has least fair deal at  about </a:t>
            </a:r>
            <a:r>
              <a:rPr lang="en-IN" dirty="0">
                <a:solidFill>
                  <a:srgbClr val="00B0F0"/>
                </a:solidFill>
              </a:rPr>
              <a:t>100 </a:t>
            </a:r>
            <a:r>
              <a:rPr lang="en-IN" dirty="0"/>
              <a:t>review text , </a:t>
            </a:r>
            <a:r>
              <a:rPr lang="en-IN" dirty="0">
                <a:solidFill>
                  <a:schemeClr val="accent1"/>
                </a:solidFill>
              </a:rPr>
              <a:t>Books </a:t>
            </a:r>
            <a:r>
              <a:rPr lang="en-IN" dirty="0"/>
              <a:t>has about </a:t>
            </a:r>
            <a:r>
              <a:rPr lang="en-IN" dirty="0">
                <a:solidFill>
                  <a:srgbClr val="00B0F0"/>
                </a:solidFill>
              </a:rPr>
              <a:t>108</a:t>
            </a:r>
            <a:r>
              <a:rPr lang="en-IN" dirty="0"/>
              <a:t> review text , </a:t>
            </a:r>
            <a:r>
              <a:rPr lang="en-IN" dirty="0">
                <a:solidFill>
                  <a:schemeClr val="accent1"/>
                </a:solidFill>
              </a:rPr>
              <a:t>Beauty </a:t>
            </a:r>
            <a:r>
              <a:rPr lang="en-IN" dirty="0"/>
              <a:t>product has about </a:t>
            </a:r>
            <a:r>
              <a:rPr lang="en-IN" dirty="0">
                <a:solidFill>
                  <a:srgbClr val="00B0F0"/>
                </a:solidFill>
              </a:rPr>
              <a:t>122</a:t>
            </a:r>
            <a:r>
              <a:rPr lang="en-IN" dirty="0"/>
              <a:t> review text, </a:t>
            </a:r>
            <a:r>
              <a:rPr lang="en-IN" dirty="0">
                <a:solidFill>
                  <a:schemeClr val="accent2"/>
                </a:solidFill>
              </a:rPr>
              <a:t>Home &amp; Kitchen  </a:t>
            </a:r>
            <a:r>
              <a:rPr lang="en-IN" dirty="0"/>
              <a:t>has about </a:t>
            </a:r>
            <a:r>
              <a:rPr lang="en-IN" dirty="0">
                <a:solidFill>
                  <a:srgbClr val="00B0F0"/>
                </a:solidFill>
              </a:rPr>
              <a:t>118</a:t>
            </a:r>
            <a:r>
              <a:rPr lang="en-IN" dirty="0"/>
              <a:t> review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786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3B3-4827-7C58-1206-C2DA6C02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492" y="2878394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PAYMENT BASED ANALYSIS</a:t>
            </a:r>
            <a:br>
              <a:rPr lang="en-IN" dirty="0">
                <a:solidFill>
                  <a:schemeClr val="accent1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978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7E08A06E-C374-F436-4F69-FD937247F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992" y="786513"/>
            <a:ext cx="4324008" cy="339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6756E0-9EFB-F160-7512-D5E5D6D7793D}"/>
              </a:ext>
            </a:extLst>
          </p:cNvPr>
          <p:cNvSpPr txBox="1"/>
          <p:nvPr/>
        </p:nvSpPr>
        <p:spPr>
          <a:xfrm>
            <a:off x="2807777" y="4573458"/>
            <a:ext cx="2893228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5075</a:t>
            </a:r>
            <a:r>
              <a:rPr lang="en-US" dirty="0"/>
              <a:t> Product has </a:t>
            </a:r>
            <a:r>
              <a:rPr lang="en-US" dirty="0">
                <a:solidFill>
                  <a:schemeClr val="accent1"/>
                </a:solidFill>
              </a:rPr>
              <a:t>delivered</a:t>
            </a:r>
          </a:p>
          <a:p>
            <a:pPr>
              <a:lnSpc>
                <a:spcPct val="150000"/>
              </a:lnSpc>
            </a:pPr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4881</a:t>
            </a:r>
            <a:r>
              <a:rPr lang="en-US" dirty="0"/>
              <a:t> product has </a:t>
            </a:r>
            <a:r>
              <a:rPr lang="en-US" dirty="0">
                <a:solidFill>
                  <a:schemeClr val="accent1"/>
                </a:solidFill>
              </a:rPr>
              <a:t>returned</a:t>
            </a:r>
          </a:p>
          <a:p>
            <a:pPr>
              <a:lnSpc>
                <a:spcPct val="150000"/>
              </a:lnSpc>
            </a:pPr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5044</a:t>
            </a:r>
            <a:r>
              <a:rPr lang="en-US" dirty="0"/>
              <a:t> product has </a:t>
            </a:r>
            <a:r>
              <a:rPr lang="en-US" dirty="0">
                <a:solidFill>
                  <a:schemeClr val="accent1"/>
                </a:solidFill>
              </a:rPr>
              <a:t>pending</a:t>
            </a:r>
          </a:p>
          <a:p>
            <a:endParaRPr lang="en-IN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ED30C7FB-FB7E-1F0D-5270-3AC36720D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497" y="786513"/>
            <a:ext cx="4430163" cy="343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B097C-AEA6-CFF2-F18E-A373264BBE67}"/>
              </a:ext>
            </a:extLst>
          </p:cNvPr>
          <p:cNvSpPr txBox="1"/>
          <p:nvPr/>
        </p:nvSpPr>
        <p:spPr>
          <a:xfrm>
            <a:off x="6930843" y="4531689"/>
            <a:ext cx="4939173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</a:rPr>
              <a:t>1029</a:t>
            </a:r>
            <a:r>
              <a:rPr lang="en-IN" dirty="0"/>
              <a:t> </a:t>
            </a:r>
            <a:r>
              <a:rPr lang="en-IN" dirty="0">
                <a:solidFill>
                  <a:schemeClr val="accent1"/>
                </a:solidFill>
              </a:rPr>
              <a:t>Books</a:t>
            </a:r>
            <a:r>
              <a:rPr lang="en-IN" dirty="0"/>
              <a:t> were returned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Second highest </a:t>
            </a:r>
            <a:r>
              <a:rPr lang="en-US" dirty="0">
                <a:solidFill>
                  <a:srgbClr val="00B0F0"/>
                </a:solidFill>
              </a:rPr>
              <a:t>1006 </a:t>
            </a:r>
            <a:r>
              <a:rPr lang="en-US" dirty="0">
                <a:solidFill>
                  <a:schemeClr val="accent1"/>
                </a:solidFill>
              </a:rPr>
              <a:t>Electronics</a:t>
            </a:r>
            <a:r>
              <a:rPr lang="en-US" dirty="0"/>
              <a:t> were returned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5390B-4908-118A-D7BC-A2BCAB1AB30D}"/>
              </a:ext>
            </a:extLst>
          </p:cNvPr>
          <p:cNvSpPr txBox="1"/>
          <p:nvPr/>
        </p:nvSpPr>
        <p:spPr>
          <a:xfrm>
            <a:off x="4286435" y="473504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046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A323F24-9E2D-F841-2125-1986FB511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014" y="552228"/>
            <a:ext cx="3990528" cy="31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6CD8D0-71FF-9C8A-F6BB-685FF2254B54}"/>
              </a:ext>
            </a:extLst>
          </p:cNvPr>
          <p:cNvSpPr txBox="1"/>
          <p:nvPr/>
        </p:nvSpPr>
        <p:spPr>
          <a:xfrm>
            <a:off x="1592252" y="4197689"/>
            <a:ext cx="52645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</a:rPr>
              <a:t>Cash on delivery </a:t>
            </a:r>
            <a:r>
              <a:rPr lang="en-US" dirty="0"/>
              <a:t>has the high total sales at </a:t>
            </a:r>
            <a:r>
              <a:rPr lang="en-US" dirty="0">
                <a:solidFill>
                  <a:srgbClr val="00B0F0"/>
                </a:solidFill>
              </a:rPr>
              <a:t>3827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</a:rPr>
              <a:t>Credit card </a:t>
            </a:r>
            <a:r>
              <a:rPr lang="en-US" dirty="0"/>
              <a:t>has the second largest total sales</a:t>
            </a:r>
          </a:p>
          <a:p>
            <a:pPr>
              <a:lnSpc>
                <a:spcPct val="150000"/>
              </a:lnSpc>
            </a:pPr>
            <a:r>
              <a:rPr lang="en-US" dirty="0"/>
              <a:t>compare to others at </a:t>
            </a:r>
            <a:r>
              <a:rPr lang="en-US" dirty="0">
                <a:solidFill>
                  <a:srgbClr val="00B0F0"/>
                </a:solidFill>
              </a:rPr>
              <a:t>3800</a:t>
            </a:r>
            <a:r>
              <a:rPr lang="en-US" dirty="0"/>
              <a:t>,</a:t>
            </a:r>
            <a:r>
              <a:rPr lang="en-US" dirty="0">
                <a:solidFill>
                  <a:schemeClr val="accent1"/>
                </a:solidFill>
              </a:rPr>
              <a:t>UPI</a:t>
            </a:r>
            <a:r>
              <a:rPr lang="en-US" dirty="0"/>
              <a:t> has least total sales at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</a:rPr>
              <a:t>3646</a:t>
            </a:r>
          </a:p>
          <a:p>
            <a:endParaRPr lang="en-IN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01BD69E-1E83-C309-8034-59C2BAE29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728" y="552228"/>
            <a:ext cx="4467839" cy="299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34898D-ECC1-DCF3-5EE2-F9D8FB50E539}"/>
              </a:ext>
            </a:extLst>
          </p:cNvPr>
          <p:cNvSpPr txBox="1"/>
          <p:nvPr/>
        </p:nvSpPr>
        <p:spPr>
          <a:xfrm>
            <a:off x="6856835" y="3690233"/>
            <a:ext cx="60960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frequent payment method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en-US" dirty="0">
                <a:solidFill>
                  <a:schemeClr val="accent1"/>
                </a:solidFill>
              </a:rPr>
              <a:t> cash on delivery </a:t>
            </a:r>
          </a:p>
          <a:p>
            <a:pPr>
              <a:lnSpc>
                <a:spcPct val="150000"/>
              </a:lnSpc>
            </a:pPr>
            <a:r>
              <a:rPr lang="en-US" dirty="0"/>
              <a:t>      at </a:t>
            </a:r>
            <a:r>
              <a:rPr lang="en-US" dirty="0">
                <a:solidFill>
                  <a:srgbClr val="00B0F0"/>
                </a:solidFill>
              </a:rPr>
              <a:t>3827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3800 </a:t>
            </a:r>
            <a:r>
              <a:rPr lang="en-US" dirty="0"/>
              <a:t>Customer pay through </a:t>
            </a:r>
            <a:r>
              <a:rPr lang="en-US" dirty="0">
                <a:solidFill>
                  <a:schemeClr val="accent1"/>
                </a:solidFill>
              </a:rPr>
              <a:t>credit card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3727</a:t>
            </a:r>
            <a:r>
              <a:rPr lang="en-US" dirty="0"/>
              <a:t> Customer pay through </a:t>
            </a:r>
            <a:r>
              <a:rPr lang="en-US" dirty="0">
                <a:solidFill>
                  <a:schemeClr val="accent1"/>
                </a:solidFill>
              </a:rPr>
              <a:t>debit card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3646 </a:t>
            </a:r>
            <a:r>
              <a:rPr lang="en-US" dirty="0"/>
              <a:t>Customer pay through </a:t>
            </a:r>
            <a:r>
              <a:rPr lang="en-US" dirty="0" err="1">
                <a:solidFill>
                  <a:schemeClr val="accent1"/>
                </a:solidFill>
              </a:rPr>
              <a:t>upi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441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1227-7809-8FF3-9DE8-4CD577C62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827" y="2552700"/>
            <a:ext cx="10018713" cy="1752599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DATE WISE ANALYSIS</a:t>
            </a:r>
            <a:br>
              <a:rPr lang="en-IN" dirty="0">
                <a:solidFill>
                  <a:schemeClr val="accent1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983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26766E3-930A-33D9-86AB-68121BF8C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936" y="462673"/>
            <a:ext cx="4885096" cy="3793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47D26C-CAD0-01A1-6B33-61850E048609}"/>
              </a:ext>
            </a:extLst>
          </p:cNvPr>
          <p:cNvSpPr txBox="1"/>
          <p:nvPr/>
        </p:nvSpPr>
        <p:spPr>
          <a:xfrm>
            <a:off x="2762865" y="55552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8B132-3729-1E15-15A3-BD1C00E0F8FA}"/>
              </a:ext>
            </a:extLst>
          </p:cNvPr>
          <p:cNvSpPr txBox="1"/>
          <p:nvPr/>
        </p:nvSpPr>
        <p:spPr>
          <a:xfrm>
            <a:off x="3651936" y="4411176"/>
            <a:ext cx="5304657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2997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Beauty Product </a:t>
            </a:r>
            <a:r>
              <a:rPr lang="en-US" dirty="0"/>
              <a:t>can sold in same date</a:t>
            </a:r>
          </a:p>
          <a:p>
            <a:pPr>
              <a:lnSpc>
                <a:spcPct val="150000"/>
              </a:lnSpc>
            </a:pPr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3035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Books product </a:t>
            </a:r>
            <a:r>
              <a:rPr lang="en-US" dirty="0"/>
              <a:t>can sold in same date</a:t>
            </a:r>
          </a:p>
          <a:p>
            <a:pPr>
              <a:lnSpc>
                <a:spcPct val="150000"/>
              </a:lnSpc>
            </a:pPr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3022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Clothing product </a:t>
            </a:r>
            <a:r>
              <a:rPr lang="en-US" dirty="0"/>
              <a:t>can sold in same date</a:t>
            </a:r>
          </a:p>
          <a:p>
            <a:pPr>
              <a:lnSpc>
                <a:spcPct val="150000"/>
              </a:lnSpc>
            </a:pPr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3036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Electronic product </a:t>
            </a:r>
            <a:r>
              <a:rPr lang="en-US" dirty="0"/>
              <a:t>can sold in same date</a:t>
            </a:r>
          </a:p>
          <a:p>
            <a:pPr>
              <a:lnSpc>
                <a:spcPct val="150000"/>
              </a:lnSpc>
            </a:pPr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2910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Home &amp; Kitchen </a:t>
            </a:r>
            <a:r>
              <a:rPr lang="en-US" dirty="0"/>
              <a:t>product can sold in same 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282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8FAAD-5521-C86C-2F96-30E413CD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169" y="2317955"/>
            <a:ext cx="10018713" cy="1752599"/>
          </a:xfrm>
        </p:spPr>
        <p:txBody>
          <a:bodyPr/>
          <a:lstStyle/>
          <a:p>
            <a:r>
              <a:rPr lang="en-IN" b="1" cap="all" dirty="0">
                <a:solidFill>
                  <a:schemeClr val="accent1"/>
                </a:solidFill>
              </a:rPr>
              <a:t>FINAL INSIGHTS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78232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FF0DB7-F19B-3575-3825-60D6AD38C7D7}"/>
              </a:ext>
            </a:extLst>
          </p:cNvPr>
          <p:cNvSpPr txBox="1"/>
          <p:nvPr/>
        </p:nvSpPr>
        <p:spPr>
          <a:xfrm>
            <a:off x="1917290" y="282989"/>
            <a:ext cx="9047220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We perform product-based, payment-based, and overall sales analysis to transform raw sales </a:t>
            </a:r>
          </a:p>
          <a:p>
            <a:pPr>
              <a:lnSpc>
                <a:spcPct val="150000"/>
              </a:lnSpc>
            </a:pPr>
            <a:r>
              <a:rPr lang="en-US" dirty="0"/>
              <a:t>data into meaningful business decisions. These processes help organizations like ,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406E0-9480-6A55-6A84-1AC80C58F159}"/>
              </a:ext>
            </a:extLst>
          </p:cNvPr>
          <p:cNvSpPr txBox="1"/>
          <p:nvPr/>
        </p:nvSpPr>
        <p:spPr>
          <a:xfrm>
            <a:off x="3897555" y="1495320"/>
            <a:ext cx="3415807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1</a:t>
            </a:r>
            <a:r>
              <a:rPr lang="en-IN" dirty="0">
                <a:solidFill>
                  <a:schemeClr val="accent2"/>
                </a:solidFill>
              </a:rPr>
              <a:t>. Improve Decision-Making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IN" dirty="0"/>
              <a:t>2. </a:t>
            </a:r>
            <a:r>
              <a:rPr lang="en-IN" dirty="0">
                <a:solidFill>
                  <a:schemeClr val="accent2"/>
                </a:solidFill>
              </a:rPr>
              <a:t>Identify Top &amp; Weak Performers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IN" dirty="0">
                <a:solidFill>
                  <a:schemeClr val="accent2"/>
                </a:solidFill>
              </a:rPr>
              <a:t>Understand Customer </a:t>
            </a:r>
            <a:r>
              <a:rPr lang="en-IN" dirty="0" err="1">
                <a:solidFill>
                  <a:schemeClr val="accent2"/>
                </a:solidFill>
              </a:rPr>
              <a:t>Behavior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4</a:t>
            </a:r>
            <a:r>
              <a:rPr lang="en-IN" dirty="0">
                <a:solidFill>
                  <a:schemeClr val="accent2"/>
                </a:solidFill>
              </a:rPr>
              <a:t>. Which product has  Demand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BA5470-A721-3EC4-7BAE-64B66C4FEF1E}"/>
              </a:ext>
            </a:extLst>
          </p:cNvPr>
          <p:cNvSpPr txBox="1"/>
          <p:nvPr/>
        </p:nvSpPr>
        <p:spPr>
          <a:xfrm>
            <a:off x="1452677" y="3538649"/>
            <a:ext cx="1084348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US" dirty="0"/>
              <a:t>I recommended focusing on high-revenue product categories, encouraging digital payments, improving delivery </a:t>
            </a:r>
          </a:p>
          <a:p>
            <a:pPr>
              <a:lnSpc>
                <a:spcPct val="150000"/>
              </a:lnSpc>
            </a:pPr>
            <a:r>
              <a:rPr lang="en-US" dirty="0"/>
              <a:t>efficiency, leveraging customer reviews for quality improvements, and targeting high-potential regions.</a:t>
            </a:r>
          </a:p>
          <a:p>
            <a:r>
              <a:rPr lang="en-IN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“Improving logistics and focusing on high-value customers can significantly increase revenue and satisfaction </a:t>
            </a:r>
          </a:p>
          <a:p>
            <a:pPr>
              <a:lnSpc>
                <a:spcPct val="150000"/>
              </a:lnSpc>
            </a:pPr>
            <a:r>
              <a:rPr lang="en-US" dirty="0"/>
              <a:t>to improve overall business performance.”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452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7D18D-2B29-D920-4A96-92139FE5834D}"/>
              </a:ext>
            </a:extLst>
          </p:cNvPr>
          <p:cNvSpPr txBox="1"/>
          <p:nvPr/>
        </p:nvSpPr>
        <p:spPr>
          <a:xfrm>
            <a:off x="3077497" y="2821858"/>
            <a:ext cx="39773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accent1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175438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341</TotalTime>
  <Words>845</Words>
  <Application>Microsoft Office PowerPoint</Application>
  <PresentationFormat>Widescreen</PresentationFormat>
  <Paragraphs>105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Cambria</vt:lpstr>
      <vt:lpstr>Corbel</vt:lpstr>
      <vt:lpstr>Parallax</vt:lpstr>
      <vt:lpstr>PROJECT PRESENTATION </vt:lpstr>
      <vt:lpstr>DESCRIPTION ABOUT DATA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CUSTOMERS BASED ANALYSIS</vt:lpstr>
      <vt:lpstr>PowerPoint Presentation</vt:lpstr>
      <vt:lpstr>PRODUCT BASED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PAYMENT BASED ANALYSIS </vt:lpstr>
      <vt:lpstr>PowerPoint Presentation</vt:lpstr>
      <vt:lpstr>PowerPoint Presentation</vt:lpstr>
      <vt:lpstr>DATE WISE ANALYSIS </vt:lpstr>
      <vt:lpstr>PowerPoint Presentation</vt:lpstr>
      <vt:lpstr>FINAL INSIGHTS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 S</dc:creator>
  <cp:lastModifiedBy>Sandhya S</cp:lastModifiedBy>
  <cp:revision>3</cp:revision>
  <dcterms:created xsi:type="dcterms:W3CDTF">2026-01-03T06:20:18Z</dcterms:created>
  <dcterms:modified xsi:type="dcterms:W3CDTF">2026-01-08T14:21:07Z</dcterms:modified>
</cp:coreProperties>
</file>